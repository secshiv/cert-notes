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910" r:id="rId4"/>
  </p:sldMasterIdLst>
  <p:notesMasterIdLst>
    <p:notesMasterId r:id="rId47"/>
  </p:notesMasterIdLst>
  <p:handoutMasterIdLst>
    <p:handoutMasterId r:id="rId48"/>
  </p:handoutMasterIdLst>
  <p:sldIdLst>
    <p:sldId id="257" r:id="rId5"/>
    <p:sldId id="258" r:id="rId6"/>
    <p:sldId id="256" r:id="rId7"/>
    <p:sldId id="259" r:id="rId8"/>
    <p:sldId id="260" r:id="rId9"/>
    <p:sldId id="264" r:id="rId10"/>
    <p:sldId id="289" r:id="rId11"/>
    <p:sldId id="290" r:id="rId12"/>
    <p:sldId id="261" r:id="rId13"/>
    <p:sldId id="266" r:id="rId14"/>
    <p:sldId id="267" r:id="rId15"/>
    <p:sldId id="269" r:id="rId16"/>
    <p:sldId id="291" r:id="rId17"/>
    <p:sldId id="292" r:id="rId18"/>
    <p:sldId id="270" r:id="rId19"/>
    <p:sldId id="271" r:id="rId20"/>
    <p:sldId id="273" r:id="rId21"/>
    <p:sldId id="274" r:id="rId22"/>
    <p:sldId id="293" r:id="rId23"/>
    <p:sldId id="294" r:id="rId24"/>
    <p:sldId id="295" r:id="rId25"/>
    <p:sldId id="296" r:id="rId26"/>
    <p:sldId id="297" r:id="rId27"/>
    <p:sldId id="298" r:id="rId28"/>
    <p:sldId id="301" r:id="rId29"/>
    <p:sldId id="275" r:id="rId30"/>
    <p:sldId id="283" r:id="rId31"/>
    <p:sldId id="285" r:id="rId32"/>
    <p:sldId id="304" r:id="rId33"/>
    <p:sldId id="306" r:id="rId34"/>
    <p:sldId id="308" r:id="rId35"/>
    <p:sldId id="324" r:id="rId36"/>
    <p:sldId id="286" r:id="rId37"/>
    <p:sldId id="311" r:id="rId38"/>
    <p:sldId id="313" r:id="rId39"/>
    <p:sldId id="314" r:id="rId40"/>
    <p:sldId id="315" r:id="rId41"/>
    <p:sldId id="318" r:id="rId42"/>
    <p:sldId id="321" r:id="rId43"/>
    <p:sldId id="287" r:id="rId44"/>
    <p:sldId id="288" r:id="rId45"/>
    <p:sldId id="281" r:id="rId4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Open Sans" panose="020B0606030504020204" pitchFamily="34" charset="0"/>
      <p:regular r:id="rId53"/>
      <p:bold r:id="rId54"/>
      <p:italic r:id="rId55"/>
      <p:boldItalic r:id="rId5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 Taylor" initials="PT" lastIdx="1" clrIdx="0">
    <p:extLst>
      <p:ext uri="{19B8F6BF-5375-455C-9EA6-DF929625EA0E}">
        <p15:presenceInfo xmlns:p15="http://schemas.microsoft.com/office/powerpoint/2012/main" userId="Pam Taylor" providerId="None"/>
      </p:ext>
    </p:extLst>
  </p:cmAuthor>
  <p:cmAuthor id="2" name="Gail Sandler" initials="GS" lastIdx="4" clrIdx="1">
    <p:extLst>
      <p:ext uri="{19B8F6BF-5375-455C-9EA6-DF929625EA0E}">
        <p15:presenceInfo xmlns:p15="http://schemas.microsoft.com/office/powerpoint/2012/main" userId="2b7e9c3f3530ff22" providerId="Windows Live"/>
      </p:ext>
    </p:extLst>
  </p:cmAuthor>
  <p:cmAuthor id="3" name="James Pengelly" initials="JP" lastIdx="1" clrIdx="2">
    <p:extLst>
      <p:ext uri="{19B8F6BF-5375-455C-9EA6-DF929625EA0E}">
        <p15:presenceInfo xmlns:p15="http://schemas.microsoft.com/office/powerpoint/2012/main" userId="S::jpengelly@comptia.org::d269fecd-a8a2-4e5a-93ae-88bdaab21f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9FDE"/>
    <a:srgbClr val="FEAE62"/>
    <a:srgbClr val="7FC8DD"/>
    <a:srgbClr val="ED6D00"/>
    <a:srgbClr val="44545F"/>
    <a:srgbClr val="B1B7BC"/>
    <a:srgbClr val="0A7DA0"/>
    <a:srgbClr val="007C9E"/>
    <a:srgbClr val="004D72"/>
    <a:srgbClr val="004D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472F75-FF2B-4BA2-821C-1FB6F1485384}" v="4" dt="2022-10-19T21:13:26.1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23" autoAdjust="0"/>
    <p:restoredTop sz="81242" autoAdjust="0"/>
  </p:normalViewPr>
  <p:slideViewPr>
    <p:cSldViewPr snapToGrid="0">
      <p:cViewPr varScale="1">
        <p:scale>
          <a:sx n="120" d="100"/>
          <a:sy n="120" d="100"/>
        </p:scale>
        <p:origin x="1368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56" Type="http://schemas.openxmlformats.org/officeDocument/2006/relationships/font" Target="fonts/font8.fntdata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6.fntdata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commentAuthors" Target="commentAuthor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sa Bock" userId="1f2a7945151d6011" providerId="LiveId" clId="{FE473748-0353-4A3B-8932-04D53077BC92}"/>
    <pc:docChg chg="custSel delSld modSld">
      <pc:chgData name="Lisa Bock" userId="1f2a7945151d6011" providerId="LiveId" clId="{FE473748-0353-4A3B-8932-04D53077BC92}" dt="2021-10-13T14:38:37.978" v="225" actId="2696"/>
      <pc:docMkLst>
        <pc:docMk/>
      </pc:docMkLst>
      <pc:sldChg chg="del">
        <pc:chgData name="Lisa Bock" userId="1f2a7945151d6011" providerId="LiveId" clId="{FE473748-0353-4A3B-8932-04D53077BC92}" dt="2021-10-13T14:12:39.858" v="12" actId="2696"/>
        <pc:sldMkLst>
          <pc:docMk/>
          <pc:sldMk cId="2528030650" sldId="265"/>
        </pc:sldMkLst>
      </pc:sldChg>
      <pc:sldChg chg="modSp mod">
        <pc:chgData name="Lisa Bock" userId="1f2a7945151d6011" providerId="LiveId" clId="{FE473748-0353-4A3B-8932-04D53077BC92}" dt="2021-10-13T14:29:14.884" v="103" actId="15"/>
        <pc:sldMkLst>
          <pc:docMk/>
          <pc:sldMk cId="2996616140" sldId="267"/>
        </pc:sldMkLst>
        <pc:spChg chg="mod">
          <ac:chgData name="Lisa Bock" userId="1f2a7945151d6011" providerId="LiveId" clId="{FE473748-0353-4A3B-8932-04D53077BC92}" dt="2021-10-13T14:29:14.884" v="103" actId="15"/>
          <ac:spMkLst>
            <pc:docMk/>
            <pc:sldMk cId="2996616140" sldId="267"/>
            <ac:spMk id="3" creationId="{D265882B-10E2-446D-A76D-9CAE7BFA8BE6}"/>
          </ac:spMkLst>
        </pc:spChg>
      </pc:sldChg>
      <pc:sldChg chg="del">
        <pc:chgData name="Lisa Bock" userId="1f2a7945151d6011" providerId="LiveId" clId="{FE473748-0353-4A3B-8932-04D53077BC92}" dt="2021-10-13T14:15:42.407" v="102" actId="2696"/>
        <pc:sldMkLst>
          <pc:docMk/>
          <pc:sldMk cId="443996997" sldId="268"/>
        </pc:sldMkLst>
      </pc:sldChg>
      <pc:sldChg chg="modSp mod modNotesTx">
        <pc:chgData name="Lisa Bock" userId="1f2a7945151d6011" providerId="LiveId" clId="{FE473748-0353-4A3B-8932-04D53077BC92}" dt="2021-10-13T14:31:31.080" v="128" actId="27636"/>
        <pc:sldMkLst>
          <pc:docMk/>
          <pc:sldMk cId="2731222769" sldId="273"/>
        </pc:sldMkLst>
        <pc:spChg chg="mod">
          <ac:chgData name="Lisa Bock" userId="1f2a7945151d6011" providerId="LiveId" clId="{FE473748-0353-4A3B-8932-04D53077BC92}" dt="2021-10-13T14:31:31.080" v="128" actId="27636"/>
          <ac:spMkLst>
            <pc:docMk/>
            <pc:sldMk cId="2731222769" sldId="273"/>
            <ac:spMk id="3" creationId="{D265882B-10E2-446D-A76D-9CAE7BFA8BE6}"/>
          </ac:spMkLst>
        </pc:spChg>
      </pc:sldChg>
      <pc:sldChg chg="modNotesTx">
        <pc:chgData name="Lisa Bock" userId="1f2a7945151d6011" providerId="LiveId" clId="{FE473748-0353-4A3B-8932-04D53077BC92}" dt="2021-10-13T14:30:30.911" v="117"/>
        <pc:sldMkLst>
          <pc:docMk/>
          <pc:sldMk cId="2707367036" sldId="274"/>
        </pc:sldMkLst>
      </pc:sldChg>
      <pc:sldChg chg="modSp mod">
        <pc:chgData name="Lisa Bock" userId="1f2a7945151d6011" providerId="LiveId" clId="{FE473748-0353-4A3B-8932-04D53077BC92}" dt="2021-10-13T14:33:28.079" v="139"/>
        <pc:sldMkLst>
          <pc:docMk/>
          <pc:sldMk cId="3677739018" sldId="275"/>
        </pc:sldMkLst>
        <pc:spChg chg="mod">
          <ac:chgData name="Lisa Bock" userId="1f2a7945151d6011" providerId="LiveId" clId="{FE473748-0353-4A3B-8932-04D53077BC92}" dt="2021-10-13T14:33:28.079" v="139"/>
          <ac:spMkLst>
            <pc:docMk/>
            <pc:sldMk cId="3677739018" sldId="275"/>
            <ac:spMk id="2" creationId="{00910985-B36C-4A8C-8F00-496036FF49CE}"/>
          </ac:spMkLst>
        </pc:spChg>
      </pc:sldChg>
      <pc:sldChg chg="modSp mod">
        <pc:chgData name="Lisa Bock" userId="1f2a7945151d6011" providerId="LiveId" clId="{FE473748-0353-4A3B-8932-04D53077BC92}" dt="2021-10-13T14:38:34.286" v="224" actId="27636"/>
        <pc:sldMkLst>
          <pc:docMk/>
          <pc:sldMk cId="3571753165" sldId="287"/>
        </pc:sldMkLst>
        <pc:spChg chg="mod">
          <ac:chgData name="Lisa Bock" userId="1f2a7945151d6011" providerId="LiveId" clId="{FE473748-0353-4A3B-8932-04D53077BC92}" dt="2021-10-13T14:38:34.286" v="224" actId="27636"/>
          <ac:spMkLst>
            <pc:docMk/>
            <pc:sldMk cId="3571753165" sldId="287"/>
            <ac:spMk id="2" creationId="{00910985-B36C-4A8C-8F00-496036FF49CE}"/>
          </ac:spMkLst>
        </pc:spChg>
      </pc:sldChg>
      <pc:sldChg chg="modSp mod">
        <pc:chgData name="Lisa Bock" userId="1f2a7945151d6011" providerId="LiveId" clId="{FE473748-0353-4A3B-8932-04D53077BC92}" dt="2021-10-13T14:12:36.114" v="11" actId="15"/>
        <pc:sldMkLst>
          <pc:docMk/>
          <pc:sldMk cId="1403171445" sldId="289"/>
        </pc:sldMkLst>
        <pc:spChg chg="mod">
          <ac:chgData name="Lisa Bock" userId="1f2a7945151d6011" providerId="LiveId" clId="{FE473748-0353-4A3B-8932-04D53077BC92}" dt="2021-10-13T14:12:08.941" v="6" actId="20577"/>
          <ac:spMkLst>
            <pc:docMk/>
            <pc:sldMk cId="1403171445" sldId="289"/>
            <ac:spMk id="2" creationId="{88E02E27-F4B6-4900-A3DD-8A7991614645}"/>
          </ac:spMkLst>
        </pc:spChg>
        <pc:spChg chg="mod">
          <ac:chgData name="Lisa Bock" userId="1f2a7945151d6011" providerId="LiveId" clId="{FE473748-0353-4A3B-8932-04D53077BC92}" dt="2021-10-13T14:12:36.114" v="11" actId="15"/>
          <ac:spMkLst>
            <pc:docMk/>
            <pc:sldMk cId="1403171445" sldId="289"/>
            <ac:spMk id="3" creationId="{5AA0B1E9-49E6-4BDD-B79D-1182462A159C}"/>
          </ac:spMkLst>
        </pc:spChg>
      </pc:sldChg>
      <pc:sldChg chg="modSp mod">
        <pc:chgData name="Lisa Bock" userId="1f2a7945151d6011" providerId="LiveId" clId="{FE473748-0353-4A3B-8932-04D53077BC92}" dt="2021-10-13T14:32:09.780" v="131" actId="20577"/>
        <pc:sldMkLst>
          <pc:docMk/>
          <pc:sldMk cId="2030536970" sldId="297"/>
        </pc:sldMkLst>
        <pc:spChg chg="mod">
          <ac:chgData name="Lisa Bock" userId="1f2a7945151d6011" providerId="LiveId" clId="{FE473748-0353-4A3B-8932-04D53077BC92}" dt="2021-10-13T14:32:09.780" v="131" actId="20577"/>
          <ac:spMkLst>
            <pc:docMk/>
            <pc:sldMk cId="2030536970" sldId="297"/>
            <ac:spMk id="7" creationId="{8089FAC4-C4AE-4843-9FA8-8B36887B2516}"/>
          </ac:spMkLst>
        </pc:spChg>
      </pc:sldChg>
      <pc:sldChg chg="del">
        <pc:chgData name="Lisa Bock" userId="1f2a7945151d6011" providerId="LiveId" clId="{FE473748-0353-4A3B-8932-04D53077BC92}" dt="2021-10-13T14:32:13.079" v="132" actId="2696"/>
        <pc:sldMkLst>
          <pc:docMk/>
          <pc:sldMk cId="3876977306" sldId="299"/>
        </pc:sldMkLst>
      </pc:sldChg>
      <pc:sldChg chg="modSp del mod">
        <pc:chgData name="Lisa Bock" userId="1f2a7945151d6011" providerId="LiveId" clId="{FE473748-0353-4A3B-8932-04D53077BC92}" dt="2021-10-13T14:33:31.424" v="140" actId="2696"/>
        <pc:sldMkLst>
          <pc:docMk/>
          <pc:sldMk cId="687549661" sldId="302"/>
        </pc:sldMkLst>
        <pc:spChg chg="mod">
          <ac:chgData name="Lisa Bock" userId="1f2a7945151d6011" providerId="LiveId" clId="{FE473748-0353-4A3B-8932-04D53077BC92}" dt="2021-10-13T14:33:23.518" v="137" actId="21"/>
          <ac:spMkLst>
            <pc:docMk/>
            <pc:sldMk cId="687549661" sldId="302"/>
            <ac:spMk id="2" creationId="{F94A3766-29DA-4BB3-87CF-4A9882B63C03}"/>
          </ac:spMkLst>
        </pc:spChg>
      </pc:sldChg>
      <pc:sldChg chg="modSp mod">
        <pc:chgData name="Lisa Bock" userId="1f2a7945151d6011" providerId="LiveId" clId="{FE473748-0353-4A3B-8932-04D53077BC92}" dt="2021-10-13T14:36:07.566" v="176" actId="27636"/>
        <pc:sldMkLst>
          <pc:docMk/>
          <pc:sldMk cId="2108776918" sldId="315"/>
        </pc:sldMkLst>
        <pc:spChg chg="mod">
          <ac:chgData name="Lisa Bock" userId="1f2a7945151d6011" providerId="LiveId" clId="{FE473748-0353-4A3B-8932-04D53077BC92}" dt="2021-10-13T14:36:07.566" v="176" actId="27636"/>
          <ac:spMkLst>
            <pc:docMk/>
            <pc:sldMk cId="2108776918" sldId="315"/>
            <ac:spMk id="3" creationId="{D265882B-10E2-446D-A76D-9CAE7BFA8BE6}"/>
          </ac:spMkLst>
        </pc:spChg>
      </pc:sldChg>
      <pc:sldChg chg="del">
        <pc:chgData name="Lisa Bock" userId="1f2a7945151d6011" providerId="LiveId" clId="{FE473748-0353-4A3B-8932-04D53077BC92}" dt="2021-10-13T14:36:12.733" v="177" actId="2696"/>
        <pc:sldMkLst>
          <pc:docMk/>
          <pc:sldMk cId="2334436347" sldId="317"/>
        </pc:sldMkLst>
      </pc:sldChg>
      <pc:sldChg chg="del">
        <pc:chgData name="Lisa Bock" userId="1f2a7945151d6011" providerId="LiveId" clId="{FE473748-0353-4A3B-8932-04D53077BC92}" dt="2021-10-13T14:30:34.503" v="118" actId="2696"/>
        <pc:sldMkLst>
          <pc:docMk/>
          <pc:sldMk cId="590870192" sldId="323"/>
        </pc:sldMkLst>
      </pc:sldChg>
      <pc:sldChg chg="del">
        <pc:chgData name="Lisa Bock" userId="1f2a7945151d6011" providerId="LiveId" clId="{FE473748-0353-4A3B-8932-04D53077BC92}" dt="2021-10-13T14:38:37.978" v="225" actId="2696"/>
        <pc:sldMkLst>
          <pc:docMk/>
          <pc:sldMk cId="3273073869" sldId="325"/>
        </pc:sldMkLst>
      </pc:sldChg>
    </pc:docChg>
  </pc:docChgLst>
  <pc:docChgLst>
    <pc:chgData name="Danielle Andries" userId="93d179e4-3c18-40f7-920e-ae80b202540d" providerId="ADAL" clId="{0F472F75-FF2B-4BA2-821C-1FB6F1485384}"/>
    <pc:docChg chg="delSld modSld">
      <pc:chgData name="Danielle Andries" userId="93d179e4-3c18-40f7-920e-ae80b202540d" providerId="ADAL" clId="{0F472F75-FF2B-4BA2-821C-1FB6F1485384}" dt="2022-10-19T21:20:47.252" v="76" actId="20577"/>
      <pc:docMkLst>
        <pc:docMk/>
      </pc:docMkLst>
      <pc:sldChg chg="modNotesTx">
        <pc:chgData name="Danielle Andries" userId="93d179e4-3c18-40f7-920e-ae80b202540d" providerId="ADAL" clId="{0F472F75-FF2B-4BA2-821C-1FB6F1485384}" dt="2021-10-14T13:44:55.488" v="6" actId="20577"/>
        <pc:sldMkLst>
          <pc:docMk/>
          <pc:sldMk cId="1387039101" sldId="269"/>
        </pc:sldMkLst>
      </pc:sldChg>
      <pc:sldChg chg="modNotesTx">
        <pc:chgData name="Danielle Andries" userId="93d179e4-3c18-40f7-920e-ae80b202540d" providerId="ADAL" clId="{0F472F75-FF2B-4BA2-821C-1FB6F1485384}" dt="2021-10-14T13:45:05.252" v="9" actId="20577"/>
        <pc:sldMkLst>
          <pc:docMk/>
          <pc:sldMk cId="2707367036" sldId="274"/>
        </pc:sldMkLst>
      </pc:sldChg>
      <pc:sldChg chg="del">
        <pc:chgData name="Danielle Andries" userId="93d179e4-3c18-40f7-920e-ae80b202540d" providerId="ADAL" clId="{0F472F75-FF2B-4BA2-821C-1FB6F1485384}" dt="2022-10-19T21:20:24.981" v="10" actId="2696"/>
        <pc:sldMkLst>
          <pc:docMk/>
          <pc:sldMk cId="265432538" sldId="282"/>
        </pc:sldMkLst>
      </pc:sldChg>
      <pc:sldChg chg="modSp mod">
        <pc:chgData name="Danielle Andries" userId="93d179e4-3c18-40f7-920e-ae80b202540d" providerId="ADAL" clId="{0F472F75-FF2B-4BA2-821C-1FB6F1485384}" dt="2022-10-19T21:20:47.252" v="76" actId="20577"/>
        <pc:sldMkLst>
          <pc:docMk/>
          <pc:sldMk cId="1737206615" sldId="288"/>
        </pc:sldMkLst>
        <pc:spChg chg="mod">
          <ac:chgData name="Danielle Andries" userId="93d179e4-3c18-40f7-920e-ae80b202540d" providerId="ADAL" clId="{0F472F75-FF2B-4BA2-821C-1FB6F1485384}" dt="2022-10-19T21:20:47.252" v="76" actId="20577"/>
          <ac:spMkLst>
            <pc:docMk/>
            <pc:sldMk cId="1737206615" sldId="288"/>
            <ac:spMk id="3" creationId="{568708AE-48ED-4852-AE39-86C44E3C310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06D6A9A-E421-49E1-95E3-28D4C7B9C8A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1017" y="8846898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159ABDE6-7738-416A-B4E7-0C3C017A51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391349" y="874756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CompTIA_logo.wmf">
            <a:extLst>
              <a:ext uri="{FF2B5EF4-FFF2-40B4-BE49-F238E27FC236}">
                <a16:creationId xmlns:a16="http://schemas.microsoft.com/office/drawing/2014/main" id="{C687E238-29FD-442E-B707-9D78F681F0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587" y="8742059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46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31122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3845062"/>
            <a:ext cx="6096000" cy="46131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E08E5ED-27EB-4222-8673-ABB6E71767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77118" y="8868932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 i="0" u="none">
                <a:solidFill>
                  <a:schemeClr val="accent4"/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3F69D4DB-2CA4-4812-B085-9934714511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336264" y="8769594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CompTIA_logo.wmf">
            <a:extLst>
              <a:ext uri="{FF2B5EF4-FFF2-40B4-BE49-F238E27FC236}">
                <a16:creationId xmlns:a16="http://schemas.microsoft.com/office/drawing/2014/main" id="{94795792-6EB9-40B5-B9EB-C67D5E9BEC1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2688" y="8764093"/>
            <a:ext cx="612648" cy="13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101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ploit-db.com/google-hacking-database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ana.org/assignments/http-status-codes/http-status-codes.xhtml/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33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Public code repositories make it easy to share code, however, can pose a risk to the organization. List some ways you can protect your code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662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Search through the Google Hacking database found at: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https://www.exploit-db.com/google-hacking-database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 and share their findings.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64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Using archived websites during PenTesting can trace back to old press releases, directories, and even information on the source code that contains comments or sensitive information.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538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According to OWASP, enumeration is also referred to as Predictable Resource Location, File Enumeration, or Directory Enumeration.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55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Visit </a:t>
            </a:r>
            <a:r>
              <a:rPr lang="en-US" b="0" i="1" dirty="0">
                <a:solidFill>
                  <a:srgbClr val="007C9E"/>
                </a:solidFill>
                <a:effectLst/>
                <a:latin typeface="Open Sans" panose="020B0606030504020204" pitchFamily="34" charset="0"/>
                <a:hlinkClick r:id="rId3"/>
              </a:rPr>
              <a:t>https://www.iana.org/assignments/http-status-codes/http-status-codes.xhtml/</a:t>
            </a:r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 and discuss some of the HTTP codes that are listed. 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327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1" dirty="0">
                <a:solidFill>
                  <a:srgbClr val="45545F"/>
                </a:solidFill>
                <a:effectLst/>
                <a:latin typeface="Open Sans" panose="020B0606030504020204" pitchFamily="34" charset="0"/>
              </a:rPr>
              <a:t>Web crawlers can also be called bots, spider, spiderbot or user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50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Metagoofil </a:t>
            </a:r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uses Python scripting to locate metadata within different document types such as df, doc,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xls</a:t>
            </a:r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ppt, </a:t>
            </a:r>
            <a:r>
              <a:rPr lang="en-US" b="0" i="1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odp</a:t>
            </a:r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and pptx. </a:t>
            </a:r>
          </a:p>
          <a:p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You can download a copy of Metagoofil from GitHub. In addition, the tool is built into Kali Linux. </a:t>
            </a:r>
            <a:endParaRPr lang="en-U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3025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Note that, unlike theHarvester, Recon-ng, and Maltego, FOCA is a Windows-only tool. In addition, it also requires a running SQL server to store its data in a database.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296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/>
              <a:t>The responses will also reveal how the server responds to "known good" and "known bad" input.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0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Search contacts from comptia.org using LinkedIn </a:t>
            </a:r>
            <a:endParaRPr lang="en-US" b="0" i="1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292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31115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60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C7DB1-AF77-4C23-97D2-AB7420353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9133DACF-FEBA-45AC-9EB7-694DBCD1B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7C70C8-90CB-4519-B236-5C8D99A8D6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49" y="746760"/>
            <a:ext cx="4353949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36383" y="746760"/>
            <a:ext cx="4380617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050" y="745483"/>
            <a:ext cx="4353948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8AA6A-10F2-4CA6-8925-E15CCE244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EE39E2-5B69-4AB7-BDDE-B92E1D3BC1B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46050" y="1367538"/>
            <a:ext cx="4353948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648BDE9-7085-42C7-97A5-A2C2D27A09D7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645493" y="1378716"/>
            <a:ext cx="4371507" cy="3425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E6423E8-A4C5-4145-A588-A28F9760C15A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645493" y="745483"/>
            <a:ext cx="4371507" cy="47982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9160-8550-49A0-BE34-C267E3A48D5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617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0B0FC9-797C-41B3-B100-1CC26F987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9425E2-0764-4FEE-ABEB-4675187E43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4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20DDD6C-AB38-440E-A2B7-E3AD1F167ED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050" y="748623"/>
            <a:ext cx="8870950" cy="404435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55610DE-03A3-4171-87CD-CB837BA3D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32760" y="0"/>
            <a:ext cx="6111239" cy="603250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lIns="0"/>
          <a:lstStyle>
            <a:lvl1pPr marL="0">
              <a:defRPr/>
            </a:lvl1pPr>
          </a:lstStyle>
          <a:p>
            <a:r>
              <a:rPr lang="en-US" dirty="0" err="1"/>
              <a:t>ActivityTitle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206A-2516-457B-9C8F-9BDD445DD373}"/>
              </a:ext>
            </a:extLst>
          </p:cNvPr>
          <p:cNvSpPr/>
          <p:nvPr userDrawn="1"/>
        </p:nvSpPr>
        <p:spPr>
          <a:xfrm>
            <a:off x="0" y="0"/>
            <a:ext cx="303276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L="36000" lvl="0" algn="r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Review Activity: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DA4BA0-CFFC-47F9-BAF1-81434EEDE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201" y="145375"/>
            <a:ext cx="347558" cy="31249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B5A26-D33C-4103-B845-8B79BE44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85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FD5A98-A124-4EB7-BACC-FCD20E2A7A9D}"/>
              </a:ext>
            </a:extLst>
          </p:cNvPr>
          <p:cNvSpPr/>
          <p:nvPr userDrawn="1"/>
        </p:nvSpPr>
        <p:spPr>
          <a:xfrm>
            <a:off x="0" y="0"/>
            <a:ext cx="9144000" cy="603248"/>
          </a:xfrm>
          <a:prstGeom prst="rect">
            <a:avLst/>
          </a:prstGeom>
          <a:solidFill>
            <a:srgbClr val="FEAE62">
              <a:alpha val="24706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l" defTabSz="342900">
              <a:spcBef>
                <a:spcPct val="0"/>
              </a:spcBef>
              <a:buNone/>
            </a:pPr>
            <a:r>
              <a:rPr lang="en-GB" sz="2800" b="1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     Lab Activity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7A60DE0-FD9C-4F2F-8B9C-B132BBC17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816" y="125902"/>
            <a:ext cx="288567" cy="32463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E4D56-1580-4D91-812A-FB8A378319A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BCB8D-8BA4-4A40-81CF-DAD00077BF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49" y="748621"/>
            <a:ext cx="8870950" cy="4044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1009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Cover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Exam PT0-002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6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Picture 15" descr="CompTIA Logo">
            <a:extLst>
              <a:ext uri="{FF2B5EF4-FFF2-40B4-BE49-F238E27FC236}">
                <a16:creationId xmlns:a16="http://schemas.microsoft.com/office/drawing/2014/main" id="{B1854F63-33E4-4083-8910-1D3D34F99D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0366" y="683160"/>
            <a:ext cx="1428149" cy="30542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C7CFDF-8D56-4B0F-986D-0966674CE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7D84293D-9EA8-40F2-93FB-ED6D63C3A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22120" y="2131276"/>
            <a:ext cx="2657475" cy="715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9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Lesson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Top Corners Rounded 9">
            <a:extLst>
              <a:ext uri="{FF2B5EF4-FFF2-40B4-BE49-F238E27FC236}">
                <a16:creationId xmlns:a16="http://schemas.microsoft.com/office/drawing/2014/main" id="{88E2E271-D3C7-4808-9665-C6E27FB5A775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711F5D9-3DD6-474B-AB29-EB60551B87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66824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Lesson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FD74DCED-5B72-479F-BD98-2FB51162CA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15D452AB-95A2-430D-91F0-E0D3B1A953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C95779D-C23F-4838-A4E9-42CBBB5D9F5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0B78B27-C21A-4DCF-B14E-69446ED67F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C64FEEA5-A281-4DED-AF15-42F817D19D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DBC3B40-8D17-4058-A330-EB58C13D6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0C10025E-BF6D-4382-802A-4903B842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321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opic">
    <p:bg>
      <p:bgPr>
        <a:solidFill>
          <a:srgbClr val="7FC8DD">
            <a:alpha val="25098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Top Corners Rounded 5">
            <a:extLst>
              <a:ext uri="{FF2B5EF4-FFF2-40B4-BE49-F238E27FC236}">
                <a16:creationId xmlns:a16="http://schemas.microsoft.com/office/drawing/2014/main" id="{40A8FE34-9096-4567-9789-B242DD11E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2FEEEDD-0751-854A-9852-93F3EA02290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0366" y="2148385"/>
            <a:ext cx="7981244" cy="1080000"/>
          </a:xfrm>
          <a:prstGeom prst="rect">
            <a:avLst/>
          </a:prstGeom>
          <a:noFill/>
        </p:spPr>
        <p:txBody>
          <a:bodyPr lIns="0" rIns="0" anchor="t" anchorCtr="0">
            <a:noAutofit/>
          </a:bodyPr>
          <a:lstStyle>
            <a:lvl1pPr marL="0" algn="l">
              <a:spcBef>
                <a:spcPts val="0"/>
              </a:spcBef>
              <a:defRPr sz="4000" b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Title </a:t>
            </a:r>
            <a:r>
              <a:rPr lang="en-US" dirty="0" err="1"/>
              <a:t>Title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658038CC-5DF0-1545-A424-EA63B177F1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51277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Topic #Y </a:t>
            </a:r>
          </a:p>
        </p:txBody>
      </p:sp>
      <p:pic>
        <p:nvPicPr>
          <p:cNvPr id="7" name="Picture 6" descr="CompTIA Logo">
            <a:extLst>
              <a:ext uri="{FF2B5EF4-FFF2-40B4-BE49-F238E27FC236}">
                <a16:creationId xmlns:a16="http://schemas.microsoft.com/office/drawing/2014/main" id="{3FA6866F-0447-494E-8F3B-C28CBFC125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85CB60B9-005C-47AF-9FB6-D41274CD49DC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B711CB8-C942-4974-982E-45957883E0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54002"/>
            <a:ext cx="1813560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/>
              <a:t>Lesson #</a:t>
            </a:r>
            <a:endParaRPr lang="en-GB" dirty="0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67AE811F-4593-4B5E-B7DC-3D290CB8E9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6DCE80E9-7F35-4B60-9186-5838CCF74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421816">
            <a:off x="343351" y="418781"/>
            <a:ext cx="2225591" cy="57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09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ummary">
    <p:bg>
      <p:bgPr>
        <a:solidFill>
          <a:srgbClr val="CF9FDE">
            <a:alpha val="2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Top Corners Rounded 8">
            <a:extLst>
              <a:ext uri="{FF2B5EF4-FFF2-40B4-BE49-F238E27FC236}">
                <a16:creationId xmlns:a16="http://schemas.microsoft.com/office/drawing/2014/main" id="{C72812BA-B9B1-46F2-B1D3-26CF558EC640}"/>
              </a:ext>
            </a:extLst>
          </p:cNvPr>
          <p:cNvSpPr/>
          <p:nvPr userDrawn="1"/>
        </p:nvSpPr>
        <p:spPr>
          <a:xfrm>
            <a:off x="0" y="4549536"/>
            <a:ext cx="9144000" cy="594017"/>
          </a:xfrm>
          <a:prstGeom prst="round2SameRect">
            <a:avLst>
              <a:gd name="adj1" fmla="val 29495"/>
              <a:gd name="adj2" fmla="val 0"/>
            </a:avLst>
          </a:prstGeom>
          <a:solidFill>
            <a:srgbClr val="2537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077B2DE0-D1DB-4EE0-B864-29DFD92934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0366" y="1066518"/>
            <a:ext cx="7981244" cy="1080000"/>
          </a:xfrm>
          <a:prstGeom prst="rect">
            <a:avLst/>
          </a:prstGeom>
        </p:spPr>
        <p:txBody>
          <a:bodyPr lIns="0" rIns="0">
            <a:noAutofit/>
          </a:bodyPr>
          <a:lstStyle>
            <a:lvl1pPr marL="0" indent="0" algn="l">
              <a:spcBef>
                <a:spcPts val="0"/>
              </a:spcBef>
              <a:buNone/>
              <a:defRPr sz="60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Lesson #</a:t>
            </a:r>
          </a:p>
        </p:txBody>
      </p:sp>
      <p:pic>
        <p:nvPicPr>
          <p:cNvPr id="13" name="Picture 12" descr="CompTIA Logo">
            <a:extLst>
              <a:ext uri="{FF2B5EF4-FFF2-40B4-BE49-F238E27FC236}">
                <a16:creationId xmlns:a16="http://schemas.microsoft.com/office/drawing/2014/main" id="{8DB500E6-5CC4-4815-AEE8-41EB81EC7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</a:blip>
          <a:stretch>
            <a:fillRect/>
          </a:stretch>
        </p:blipFill>
        <p:spPr>
          <a:xfrm>
            <a:off x="255281" y="4743141"/>
            <a:ext cx="1200865" cy="256814"/>
          </a:xfrm>
          <a:prstGeom prst="rect">
            <a:avLst/>
          </a:prstGeom>
        </p:spPr>
      </p:pic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A81A1DFC-41A7-4E3E-A038-1E4DC1D675D6}"/>
              </a:ext>
            </a:extLst>
          </p:cNvPr>
          <p:cNvSpPr txBox="1">
            <a:spLocks/>
          </p:cNvSpPr>
          <p:nvPr userDrawn="1"/>
        </p:nvSpPr>
        <p:spPr>
          <a:xfrm>
            <a:off x="1461500" y="4768747"/>
            <a:ext cx="6195600" cy="1554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253746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Copyright © 2022 CompTIA, Inc. All Rights Reserved.  |  CompTIA.org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30AC5F2-88D3-4490-90BF-F34E01D17C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0366" y="561622"/>
            <a:ext cx="7981244" cy="489656"/>
          </a:xfrm>
          <a:prstGeom prst="rect">
            <a:avLst/>
          </a:prstGeom>
        </p:spPr>
        <p:txBody>
          <a:bodyPr lIns="0" rIns="0"/>
          <a:lstStyle>
            <a:lvl1pPr marL="0" indent="0">
              <a:buNone/>
              <a:defRPr/>
            </a:lvl1pPr>
            <a:lvl5pPr>
              <a:defRPr/>
            </a:lvl5pPr>
          </a:lstStyle>
          <a:p>
            <a:pPr lvl="0"/>
            <a:r>
              <a:rPr lang="en-US" dirty="0" err="1"/>
              <a:t>PenTest</a:t>
            </a:r>
            <a:r>
              <a:rPr lang="en-US" dirty="0"/>
              <a:t>+ PT0-002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A9EE0-9C3D-4C77-BB60-8191473E1FB2}"/>
              </a:ext>
            </a:extLst>
          </p:cNvPr>
          <p:cNvSpPr txBox="1"/>
          <p:nvPr userDrawn="1"/>
        </p:nvSpPr>
        <p:spPr>
          <a:xfrm>
            <a:off x="650366" y="2170237"/>
            <a:ext cx="2489784" cy="707886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noAutofit/>
          </a:bodyPr>
          <a:lstStyle>
            <a:lvl1pPr defTabSz="342900">
              <a:spcBef>
                <a:spcPts val="0"/>
              </a:spcBef>
              <a:buNone/>
              <a:defRPr lang="en-US" sz="4000" b="0" dirty="0"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Summary</a:t>
            </a:r>
            <a:endParaRPr lang="en-GB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71E092C-F879-4DF6-A68C-3E9B8C85A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7816" y="4885690"/>
            <a:ext cx="479184" cy="1986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6561AF-3711-4D10-83B7-F654C4C48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6557" y="1908432"/>
            <a:ext cx="2428875" cy="1905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C2DA8F62-B736-4E19-826C-4C8C382FE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3397774" y="1311388"/>
            <a:ext cx="2508635" cy="62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72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10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FFE8316-6276-444F-8C28-23F8C9298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3999" cy="603250"/>
          </a:xfrm>
          <a:prstGeom prst="rect">
            <a:avLst/>
          </a:prstGeom>
          <a:solidFill>
            <a:srgbClr val="7FC8DD">
              <a:alpha val="25000"/>
            </a:srgb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ABFF679-40BB-4275-8271-2872CFC1B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7816" y="4885690"/>
            <a:ext cx="479184" cy="198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12D1C9D9-BB2F-4CEE-AB77-E7FB81417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0" y="746760"/>
            <a:ext cx="8870950" cy="4046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32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7" r:id="rId2"/>
    <p:sldLayoutId id="2147483918" r:id="rId3"/>
    <p:sldLayoutId id="2147483919" r:id="rId4"/>
    <p:sldLayoutId id="2147483922" r:id="rId5"/>
    <p:sldLayoutId id="2147483924" r:id="rId6"/>
    <p:sldLayoutId id="2147483932" r:id="rId7"/>
    <p:sldLayoutId id="2147483912" r:id="rId8"/>
    <p:sldLayoutId id="2147483911" r:id="rId9"/>
    <p:sldLayoutId id="2147483926" r:id="rId10"/>
    <p:sldLayoutId id="2147483927" r:id="rId11"/>
  </p:sldLayoutIdLst>
  <p:hf hdr="0" ftr="0" dt="0"/>
  <p:txStyles>
    <p:titleStyle>
      <a:lvl1pPr marL="72000" algn="l" defTabSz="342900" rtl="0" eaLnBrk="1" latinLnBrk="0" hangingPunct="1">
        <a:spcBef>
          <a:spcPct val="0"/>
        </a:spcBef>
        <a:buNone/>
        <a:defRPr lang="en-US" sz="2800" b="1" kern="1200" dirty="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57175" indent="-257175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34290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857250" indent="-171450" algn="l" defTabSz="342900" rtl="0" eaLnBrk="1" latinLnBrk="0" hangingPunct="1">
        <a:spcBef>
          <a:spcPts val="1000"/>
        </a:spcBef>
        <a:spcAft>
          <a:spcPts val="600"/>
        </a:spcAft>
        <a:buClrTx/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001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543050" indent="-171450" algn="l" defTabSz="342900" rtl="0" eaLnBrk="1" latinLnBrk="0" hangingPunct="1">
        <a:spcBef>
          <a:spcPts val="1000"/>
        </a:spcBef>
        <a:spcAft>
          <a:spcPts val="6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1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9FB4-7244-4484-B018-DD33DB9A52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 PT0-002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20E2C8-88F7-4382-A812-F719CC64D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CompTIA PenTest+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2A346-0A2D-4C5C-A981-A185650AD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53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087C-759A-4744-8CA2-B6FC76A04C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Footprinting and Gathering Intelligence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3CCB41-16A4-4F8D-ABB5-5CE3E36951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3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A2055-7F4C-49B3-90A3-30BC6D8557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CompTIA </a:t>
            </a:r>
            <a:r>
              <a:rPr lang="en-US" dirty="0" err="1"/>
              <a:t>PenTest</a:t>
            </a:r>
            <a:r>
              <a:rPr lang="en-US" dirty="0"/>
              <a:t>+ Exam PT0-002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A2E7BE-3CF5-43B5-A07D-D2F63BA0A4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60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2032A-10FC-4BB7-B136-BD4193536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73DC9-4D7D-4A76-A939-CFBD8317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scenario, perform passive reconnaissance.</a:t>
            </a:r>
          </a:p>
          <a:p>
            <a:r>
              <a:rPr lang="en-US" dirty="0"/>
              <a:t>Given a scenario, perform active reconnaissance.</a:t>
            </a:r>
          </a:p>
          <a:p>
            <a:r>
              <a:rPr lang="en-US" dirty="0"/>
              <a:t>Given a scenario, analyze the results of a reconnaissance exercise.</a:t>
            </a:r>
          </a:p>
          <a:p>
            <a:r>
              <a:rPr lang="en-US" dirty="0"/>
              <a:t>Explain use cases of the following tools during the phases of a penetration test.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724FD-097F-41F1-84E9-7E3A49F253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537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EEEB6-1AEE-41DF-9C4C-570C861014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Discover the Target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87CBD2-FC2F-43E3-BBCF-3F07A0EC94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3A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758618-B692-44C1-92DC-F8A5F871B94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9E05-C74B-4ADD-92BD-BF8C8F918D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186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Footprinting and reconnaissance involves identifying and obtaining information that is essential to the success of the PenTest</a:t>
            </a:r>
          </a:p>
          <a:p>
            <a:pPr lvl="1"/>
            <a:r>
              <a:rPr lang="en-US" dirty="0"/>
              <a:t>Search for key contacts, information, and technical data by combing through sources that includes online articles, social media, and press releases </a:t>
            </a:r>
          </a:p>
          <a:p>
            <a:r>
              <a:rPr lang="en-US" dirty="0"/>
              <a:t>The details can provide a better understanding of the business operations and reputation of the target organization.</a:t>
            </a:r>
          </a:p>
          <a:p>
            <a:r>
              <a:rPr lang="en-US" dirty="0"/>
              <a:t>Once obtained, the findings will help the team to better assess the target and evaluate possible attack vectors.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147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Record the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1267778"/>
          </a:xfrm>
        </p:spPr>
        <p:txBody>
          <a:bodyPr>
            <a:normAutofit/>
          </a:bodyPr>
          <a:lstStyle/>
          <a:p>
            <a:r>
              <a:rPr lang="en-US" dirty="0"/>
              <a:t>To preserve the data, the team can create a spreadsheet:</a:t>
            </a:r>
          </a:p>
          <a:p>
            <a:pPr lvl="1"/>
            <a:r>
              <a:rPr lang="en-US" dirty="0"/>
              <a:t>Include details such as asset, test, along with findings and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B2D628F4-FB28-4160-A882-68721DBA7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965053"/>
              </p:ext>
            </p:extLst>
          </p:nvPr>
        </p:nvGraphicFramePr>
        <p:xfrm>
          <a:off x="539646" y="2014538"/>
          <a:ext cx="7998170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875">
                  <a:extLst>
                    <a:ext uri="{9D8B030D-6E8A-4147-A177-3AD203B41FA5}">
                      <a16:colId xmlns:a16="http://schemas.microsoft.com/office/drawing/2014/main" val="697850938"/>
                    </a:ext>
                  </a:extLst>
                </a:gridCol>
                <a:gridCol w="2128604">
                  <a:extLst>
                    <a:ext uri="{9D8B030D-6E8A-4147-A177-3AD203B41FA5}">
                      <a16:colId xmlns:a16="http://schemas.microsoft.com/office/drawing/2014/main" val="2792410078"/>
                    </a:ext>
                  </a:extLst>
                </a:gridCol>
                <a:gridCol w="1281659">
                  <a:extLst>
                    <a:ext uri="{9D8B030D-6E8A-4147-A177-3AD203B41FA5}">
                      <a16:colId xmlns:a16="http://schemas.microsoft.com/office/drawing/2014/main" val="224373979"/>
                    </a:ext>
                  </a:extLst>
                </a:gridCol>
                <a:gridCol w="2036398">
                  <a:extLst>
                    <a:ext uri="{9D8B030D-6E8A-4147-A177-3AD203B41FA5}">
                      <a16:colId xmlns:a16="http://schemas.microsoft.com/office/drawing/2014/main" val="3860395265"/>
                    </a:ext>
                  </a:extLst>
                </a:gridCol>
                <a:gridCol w="1599634">
                  <a:extLst>
                    <a:ext uri="{9D8B030D-6E8A-4147-A177-3AD203B41FA5}">
                      <a16:colId xmlns:a16="http://schemas.microsoft.com/office/drawing/2014/main" val="4036653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Next Test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37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Whois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Greencityphysicians.com IP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Nmap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TCP ports 80 and 443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Vuln 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Email harvesting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List of email addresses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Phishing campaign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Several user credentials harvested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772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Google hacking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BXB public website potential weakness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Windows Server vuln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Windows Server 2016 running: IIS, FTP, Telnet POP3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Arachni web app scan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4694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49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2E27-F4B6-4900-A3DD-8A7991614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Organizational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0B1E9-49E6-4BDD-B79D-1182462A1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Scraping social media can be a rich resource of data about an employee's interests, behavior, relationships, and other PII. </a:t>
            </a:r>
          </a:p>
          <a:p>
            <a:r>
              <a:rPr lang="en-US" dirty="0"/>
              <a:t>Public job boards such as CareerBuilder and Monster give the candidate information on open positions. </a:t>
            </a:r>
          </a:p>
          <a:p>
            <a:pPr lvl="1"/>
            <a:r>
              <a:rPr lang="en-US" dirty="0"/>
              <a:t>The description can reveal information about the organization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134AE3-F1E0-4387-8ED9-BA9C66BD67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7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Examine DNS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organization’s IP address might be useful as an entry point into the network, or as a vector for performing more reconnaissance. </a:t>
            </a:r>
          </a:p>
          <a:p>
            <a:r>
              <a:rPr lang="en-US" dirty="0"/>
              <a:t>An advanced DNS query can retrieve more information than just an IP address. </a:t>
            </a:r>
          </a:p>
          <a:p>
            <a:r>
              <a:rPr lang="en-US" dirty="0"/>
              <a:t>For example, you can also identify individual DNS records for a particular domain, such as the following:</a:t>
            </a:r>
          </a:p>
          <a:p>
            <a:pPr lvl="1"/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Mail Exchange (MX)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record </a:t>
            </a:r>
          </a:p>
          <a:p>
            <a:pPr lvl="1"/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Nameserver (NS)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record </a:t>
            </a:r>
          </a:p>
          <a:p>
            <a:pPr lvl="1"/>
            <a:r>
              <a:rPr lang="en-US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Service (SRV)</a:t>
            </a:r>
            <a:r>
              <a:rPr lang="en-US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record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05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Outline ways footprinting and reconnaissance can reveal information about the target</a:t>
            </a:r>
          </a:p>
          <a:p>
            <a:r>
              <a:rPr lang="en-US" dirty="0"/>
              <a:t>List sites that can provide information on the company</a:t>
            </a:r>
          </a:p>
          <a:p>
            <a:r>
              <a:rPr lang="en-US" dirty="0"/>
              <a:t>Describe how public job boards can reveal information about the organization</a:t>
            </a:r>
          </a:p>
          <a:p>
            <a:r>
              <a:rPr lang="en-US" dirty="0"/>
              <a:t>Discuss how DNS information can provide additional information on the target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 the Target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02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Gather Essential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3B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087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Public Source Code Repositories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dozens of source code repository hosts available for code sharing and collaboration:</a:t>
            </a:r>
          </a:p>
          <a:p>
            <a:pPr lvl="1"/>
            <a:r>
              <a:rPr lang="en-US" dirty="0"/>
              <a:t>GitHub, Bitbucket and SourceForge</a:t>
            </a:r>
          </a:p>
          <a:p>
            <a:r>
              <a:rPr lang="en-US" dirty="0"/>
              <a:t>Along with the convenience of the repositories, comes risks.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Developers can upload private files, screenshots or comments that can contain useful intelligence and information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In addition, exposed code can be modified which can lead to an infrastructure attack or shut down systems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16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Hacking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Uses Google search engines to identify security weaknesses in publicly available sources, such as an organization's website.</a:t>
            </a:r>
          </a:p>
          <a:p>
            <a:r>
              <a:rPr lang="en-US" dirty="0"/>
              <a:t>Queries include a special search operator to focus on specific types of desired information that include:</a:t>
            </a:r>
          </a:p>
          <a:p>
            <a:pPr lvl="1"/>
            <a:r>
              <a:rPr lang="en-US" b="1" dirty="0"/>
              <a:t>site </a:t>
            </a:r>
            <a:r>
              <a:rPr lang="en-US" dirty="0"/>
              <a:t>- A specific site</a:t>
            </a:r>
          </a:p>
          <a:p>
            <a:pPr lvl="1"/>
            <a:r>
              <a:rPr lang="en-US" b="1" dirty="0"/>
              <a:t>filetype</a:t>
            </a:r>
            <a:r>
              <a:rPr lang="en-US" dirty="0"/>
              <a:t> - Specific file types.</a:t>
            </a:r>
          </a:p>
          <a:p>
            <a:pPr lvl="1"/>
            <a:r>
              <a:rPr lang="en-US" b="1" dirty="0"/>
              <a:t>inurl</a:t>
            </a:r>
            <a:r>
              <a:rPr lang="en-US" dirty="0"/>
              <a:t> - Uniform resource locator (URL) </a:t>
            </a:r>
          </a:p>
          <a:p>
            <a:r>
              <a:rPr lang="en-US" dirty="0"/>
              <a:t>The true power of Google hacking is in combining multiple operations into a single query.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9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8AE7-524B-40E5-9A09-5AD109B4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Unearthing Archived Websites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BDC3F-D45D-4088-BCF5-6CED28F2CE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Webpages are updated, moved, or deleted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Information you found before might not be available.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To obtain older website information, you can use a couple of different methods: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Use a standard cache search on a site to see a recent view of the website. 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Do an archived search using the Wayback Machine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Use a web cache viewer browser extension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B94A5-B617-4140-B59A-CAF2BB6E31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29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7AC5-604B-4B89-AFB7-3747B87DA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for Images and Interesting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14E12-83D3-4CAE-B568-B71487C69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Searching images is another avenue the team can use when scouting the target to see if there is any actionable intel. </a:t>
            </a:r>
          </a:p>
          <a:p>
            <a:pPr lvl="1"/>
            <a:r>
              <a:rPr lang="en-US" dirty="0"/>
              <a:t>Sites that offer reverse image search include TinEye, Google and Bing.</a:t>
            </a:r>
          </a:p>
          <a:p>
            <a:r>
              <a:rPr lang="en-US" dirty="0"/>
              <a:t>All image search engines work in a similar manner: </a:t>
            </a:r>
          </a:p>
          <a:p>
            <a:pPr lvl="1"/>
            <a:r>
              <a:rPr lang="en-US" dirty="0"/>
              <a:t>Either enter a URL or upload an image, and the search engine will hunt for all similar images and then present the results.</a:t>
            </a:r>
          </a:p>
          <a:p>
            <a:r>
              <a:rPr lang="en-US" dirty="0"/>
              <a:t>Another option the team can use is Google Alerts. </a:t>
            </a:r>
          </a:p>
          <a:p>
            <a:pPr lvl="1"/>
            <a:r>
              <a:rPr lang="en-US" dirty="0"/>
              <a:t>Google will monitor the web for new content, and notify you if found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8CE2A-7334-46D3-AEAE-4A735BFB58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73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Explain the risks of using public source code repositories</a:t>
            </a:r>
          </a:p>
          <a:p>
            <a:r>
              <a:rPr lang="en-US" dirty="0"/>
              <a:t>List ways the team can use Google search engines to identify security weaknesses in publicly available sources</a:t>
            </a:r>
          </a:p>
          <a:p>
            <a:r>
              <a:rPr lang="en-US" dirty="0"/>
              <a:t>Discuss ways the team can obtain older website information during reconnaissance</a:t>
            </a:r>
          </a:p>
          <a:p>
            <a:r>
              <a:rPr lang="en-US" dirty="0"/>
              <a:t>Describe how to search for images and interesting data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 Essential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248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Compile Website Information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3C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066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the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goal is to identify vulnerabilities to launch various attacks: </a:t>
            </a:r>
          </a:p>
          <a:p>
            <a:pPr lvl="1"/>
            <a:r>
              <a:rPr lang="en-US" dirty="0"/>
              <a:t>Cross site scripting (XSS), SQL Injection (SQLi) , Web caching poisoning</a:t>
            </a:r>
          </a:p>
          <a:p>
            <a:r>
              <a:rPr lang="en-US" dirty="0"/>
              <a:t>Numerous tools and techniques are available</a:t>
            </a:r>
          </a:p>
          <a:p>
            <a:pPr lvl="1"/>
            <a:r>
              <a:rPr lang="en-US" dirty="0"/>
              <a:t>Tools include browsers, Nmap, Metasploit, and DirBuster. </a:t>
            </a:r>
          </a:p>
          <a:p>
            <a:pPr lvl="1"/>
            <a:r>
              <a:rPr lang="en-US" dirty="0"/>
              <a:t>Techniques such as forced browsing and OSINT tools such as Maltego</a:t>
            </a:r>
          </a:p>
          <a:p>
            <a:r>
              <a:rPr lang="en-US" dirty="0"/>
              <a:t>Identifying the type of technology as well as version information, will better prepare the team to exploit specific scenarios.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22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Your Reach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addition to testing the main site, the team may be tasked to examine the target's partners, consultants, and contractors’ sites</a:t>
            </a:r>
          </a:p>
          <a:p>
            <a:pPr lvl="1"/>
            <a:r>
              <a:rPr lang="en-US" dirty="0"/>
              <a:t>This can reveal serous vulnerabilities within the supply chain.</a:t>
            </a:r>
          </a:p>
          <a:p>
            <a:r>
              <a:rPr lang="en-US" dirty="0"/>
              <a:t>Other potential sites that might reveal actionable information:</a:t>
            </a:r>
          </a:p>
          <a:p>
            <a:pPr lvl="1"/>
            <a:r>
              <a:rPr lang="en-US" dirty="0"/>
              <a:t>Subdomains of primary sites that aren't directly linked or easily visible</a:t>
            </a:r>
          </a:p>
          <a:p>
            <a:pPr lvl="1"/>
            <a:r>
              <a:rPr lang="en-US" dirty="0"/>
              <a:t>Websites owned and/or operated by partner organizations</a:t>
            </a:r>
          </a:p>
          <a:p>
            <a:pPr lvl="1"/>
            <a:r>
              <a:rPr lang="en-US" dirty="0"/>
              <a:t>Websites of the target organization's subsidiaries; or, conversely, the target's parent organization.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67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33F2A77-3319-4B75-BC78-8CAA760E1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the robots.txt File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F60B57-D27C-4179-A948-992E301F8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Web crawlers search source code on a webpage to learn about the structure, and possibly find interesting information. </a:t>
            </a:r>
          </a:p>
          <a:p>
            <a:r>
              <a:rPr lang="en-US" dirty="0"/>
              <a:t>One way to control </a:t>
            </a:r>
            <a:r>
              <a:rPr lang="en-US" i="1" dirty="0"/>
              <a:t>where </a:t>
            </a:r>
            <a:r>
              <a:rPr lang="en-US" dirty="0"/>
              <a:t>they search and more importantly, where NOT to search, is by using a robots.txt file</a:t>
            </a:r>
          </a:p>
          <a:p>
            <a:r>
              <a:rPr lang="en-US" dirty="0"/>
              <a:t>If not written properly, the robots.txt can be a security risk.</a:t>
            </a:r>
          </a:p>
          <a:p>
            <a:r>
              <a:rPr lang="en-US" dirty="0"/>
              <a:t>The team should examine the structure of the robots.txt file, to ensure that it has proper encoding to restrict access when searching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B64FFF-D073-456C-8F11-A33E4B0EEF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32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0536969-41AF-4EE6-B912-CD40C8F94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Recognizing Certificate Flaws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EC38981-3C39-4F81-A8D8-F724E078E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SSL/TLS uses digital certificates to validate the identity of the web server and exchange cryptographic keys.</a:t>
            </a:r>
          </a:p>
          <a:p>
            <a:r>
              <a:rPr lang="en-US" dirty="0">
                <a:solidFill>
                  <a:srgbClr val="000000"/>
                </a:solidFill>
              </a:rPr>
              <a:t>Certificates used in SSL/TLS communications are another public resource that can aid in the PenTest process.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Vulnerability scanners can gather and validate certificate information to see if they are </a:t>
            </a:r>
            <a:r>
              <a:rPr lang="en-US" dirty="0">
                <a:solidFill>
                  <a:srgbClr val="000000"/>
                </a:solidFill>
              </a:rPr>
              <a:t>properly signed and secure.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Discovering out-of-date certificates often point to other administrative or support issues that can be exploited.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5E88C-B844-4982-828D-C09061FF4F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861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93182-BB7E-45D9-9490-35265BE8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Discovering Certificate Details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53C5F-AE4A-43A3-86DA-E6E170E74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of the more useful fields in a digital certificate is the SAN </a:t>
            </a:r>
          </a:p>
          <a:p>
            <a:pPr lvl="1"/>
            <a:r>
              <a:rPr lang="en-US" dirty="0"/>
              <a:t>Can identify specific subdomains that can be covered by the certificate. </a:t>
            </a:r>
          </a:p>
          <a:p>
            <a:r>
              <a:rPr lang="en-US" dirty="0"/>
              <a:t>If found, any SANs listed can then be evaluated by the team:</a:t>
            </a:r>
          </a:p>
          <a:p>
            <a:pPr lvl="1"/>
            <a:r>
              <a:rPr lang="en-US" b="1" dirty="0"/>
              <a:t>Common name</a:t>
            </a:r>
            <a:r>
              <a:rPr lang="en-US" dirty="0"/>
              <a:t>: *.comptia.org</a:t>
            </a:r>
          </a:p>
          <a:p>
            <a:pPr lvl="1"/>
            <a:r>
              <a:rPr lang="en-US" b="1" dirty="0"/>
              <a:t>SANs:</a:t>
            </a:r>
            <a:r>
              <a:rPr lang="en-US" dirty="0"/>
              <a:t> *.comptia.org, comptia.org </a:t>
            </a:r>
          </a:p>
          <a:p>
            <a:r>
              <a:rPr lang="en-US" dirty="0"/>
              <a:t>Some certificates simply use a wildcard (*) character to denote that all subdomains of the parent domain are covered by the certificate.</a:t>
            </a:r>
          </a:p>
          <a:p>
            <a:pPr lvl="1"/>
            <a:r>
              <a:rPr lang="en-US" dirty="0"/>
              <a:t>If used, you might not be able to identify any specific resources.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1DD6-1734-4082-AABD-36FD97EC6F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32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16D88-88AB-47A4-AD80-CB3202394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Certificate Transparency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9E958-B36C-466A-B14C-4727360AA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Logs of public CAs are published for anyone to access.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Contain information about the certificates for domains and subdomains issued by a CA. 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The framework can enable you to discover subdomains no longer covered by the certificate yet still exist.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For example, an organization might have used a specific SAN in the past but later moved to a wildcard.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The past domain might still be listed in the CT logs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B64F8-30AA-4E21-A3AC-C2F9D8D936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007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46FA5D7-4E04-442F-81E8-F79511EF6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Revoking the Certificate 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89FAC4-C4AE-4843-9FA8-8B36887B2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All web browsers have a list of CAs and information on whether a certificate is valid, invalidated or revoked. 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When beginning a transaction, the status of the certificate is checked by using one of two methods: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The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Certification Revocation List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(</a:t>
            </a:r>
            <a:r>
              <a:rPr lang="en-US" b="1" i="0" dirty="0">
                <a:solidFill>
                  <a:srgbClr val="000000"/>
                </a:solidFill>
                <a:effectLst/>
              </a:rPr>
              <a:t>CRL</a:t>
            </a:r>
            <a:r>
              <a:rPr lang="en-US" dirty="0">
                <a:solidFill>
                  <a:srgbClr val="000000"/>
                </a:solidFill>
              </a:rPr>
              <a:t>) - a list of certificates that in some way have been deemed invalid. 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The </a:t>
            </a:r>
            <a:r>
              <a:rPr lang="en-US" b="1" i="0" dirty="0">
                <a:solidFill>
                  <a:srgbClr val="000000"/>
                </a:solidFill>
                <a:effectLst/>
              </a:rPr>
              <a:t>Online Certificate Status Protocol</a:t>
            </a:r>
            <a:r>
              <a:rPr lang="en-US" b="0" i="0" dirty="0">
                <a:solidFill>
                  <a:srgbClr val="000000"/>
                </a:solidFill>
                <a:effectLst/>
              </a:rPr>
              <a:t> (</a:t>
            </a:r>
            <a:r>
              <a:rPr lang="en-US" b="1" i="0" dirty="0">
                <a:solidFill>
                  <a:srgbClr val="000000"/>
                </a:solidFill>
                <a:effectLst/>
              </a:rPr>
              <a:t>OCSP</a:t>
            </a:r>
            <a:r>
              <a:rPr lang="en-US" b="0" i="0" dirty="0">
                <a:solidFill>
                  <a:srgbClr val="000000"/>
                </a:solidFill>
                <a:effectLst/>
              </a:rPr>
              <a:t>) newer way to check the validity of the certificate.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16999-8345-4251-AF09-4D7C8B202E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36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CA3C2D5-0CC2-4039-B84D-CFE523FD5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OCSP Process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3472CC-1138-4DAE-BDA6-FFED062F5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When a client goes to a web server to initiate a transaction, the following occurs: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web server sends the client the certificate. 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</a:t>
            </a:r>
            <a:r>
              <a:rPr lang="en-US" b="0" i="1" dirty="0">
                <a:solidFill>
                  <a:srgbClr val="000000"/>
                </a:solidFill>
                <a:effectLst/>
              </a:rPr>
              <a:t>client</a:t>
            </a:r>
            <a:r>
              <a:rPr lang="en-US" b="0" i="0" dirty="0">
                <a:solidFill>
                  <a:srgbClr val="000000"/>
                </a:solidFill>
                <a:effectLst/>
              </a:rPr>
              <a:t> goes to the OCSP server to check the validity of the certificate.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DEF2E-5E7C-435F-9138-8AEE8C9CFE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9B57D266-7893-4A9C-982D-8A0E2B4B3DDD}"/>
              </a:ext>
            </a:extLst>
          </p:cNvPr>
          <p:cNvPicPr>
            <a:picLocks noGrp="1" noChangeAspect="1" noChangeArrowheads="1"/>
          </p:cNvPicPr>
          <p:nvPr>
            <p:ph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38977" y="1034292"/>
            <a:ext cx="3483091" cy="3074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908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EEF8B-9138-47B6-A793-1388F8491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Stapling the Certificate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E11559-57A1-4500-A594-06C4B9A56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Stapling reverses this burden, so the web server validates the certificate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</a:t>
            </a:r>
            <a:r>
              <a:rPr lang="en-US" b="0" i="1" dirty="0">
                <a:solidFill>
                  <a:srgbClr val="000000"/>
                </a:solidFill>
                <a:effectLst/>
              </a:rPr>
              <a:t>web server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goes to the OCSP server to check the validity of the certificate</a:t>
            </a:r>
          </a:p>
          <a:p>
            <a:pPr lvl="1">
              <a:buFont typeface="+mj-lt"/>
              <a:buAutoNum type="arabicPeriod"/>
            </a:pPr>
            <a:r>
              <a:rPr lang="en-US" dirty="0">
                <a:solidFill>
                  <a:srgbClr val="000000"/>
                </a:solidFill>
              </a:rPr>
              <a:t>The web server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then sends the validated certificate to the client.  </a:t>
            </a:r>
          </a:p>
          <a:p>
            <a:pPr algn="l"/>
            <a:endParaRPr lang="en-US" b="0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B8786-8643-419A-9923-188390A46A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6F846A8-9EA8-4252-9A82-71CA7D92E7C5}"/>
              </a:ext>
            </a:extLst>
          </p:cNvPr>
          <p:cNvPicPr>
            <a:picLocks noGrp="1" noChangeAspect="1" noChangeArrowheads="1"/>
          </p:cNvPicPr>
          <p:nvPr>
            <p:ph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4426" y="1214324"/>
            <a:ext cx="3534494" cy="311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9931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Explain the value of enumerating a website</a:t>
            </a:r>
          </a:p>
          <a:p>
            <a:r>
              <a:rPr lang="en-US" dirty="0"/>
              <a:t>Describe why the team may be asked to examine the target's partners, consultants, and contractors’ sites </a:t>
            </a:r>
          </a:p>
          <a:p>
            <a:r>
              <a:rPr lang="en-US" dirty="0"/>
              <a:t>Explain the significance of the robots.txt file</a:t>
            </a:r>
          </a:p>
          <a:p>
            <a:r>
              <a:rPr lang="en-US" dirty="0"/>
              <a:t>Describe the importance of testing the SSL/TLS certificate</a:t>
            </a:r>
          </a:p>
          <a:p>
            <a:r>
              <a:rPr lang="en-US" dirty="0"/>
              <a:t>Explain how the team can use the CT Framework </a:t>
            </a:r>
          </a:p>
          <a:p>
            <a:r>
              <a:rPr lang="en-US" dirty="0"/>
              <a:t>Compare the standard OCSP process with stapling the certificate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 Website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39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5AF4-7AED-4A32-8826-AA455EAA7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Discover Open-Source Intelligence Tools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09A606-AC3C-4FE5-B558-E5DD82C0A7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 3D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820F5-6357-429C-9E9F-7ADBB5B6CA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Lesson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3BEE37-D7CF-4ED1-B9E2-10B1F8A4D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075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Open-source Intelligence Tools (OSINT)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OSINT is critical to the preliminary phases of a PenTest</a:t>
            </a:r>
          </a:p>
          <a:p>
            <a:r>
              <a:rPr lang="en-US" dirty="0"/>
              <a:t>Used during the reconnaissance phase to gather information from freely and publicly available sources, for a more targeted discovery. </a:t>
            </a:r>
          </a:p>
          <a:p>
            <a:r>
              <a:rPr lang="en-US" dirty="0"/>
              <a:t>Allows the team to discreetly gather information on the target without signaling any flags.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143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9834-E3F2-4A87-8BD5-8EEE5FB87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F67CF-35CE-4CE7-8A05-749E97BDC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Metadata is information stored or recorded as a property of an object, state of a system, or transaction. 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Metadata entries can expose sensitive information. 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Two tools that aid in the discovery of metadata are Metagoofil and Fingerprinting Organizations with Collected Archives (FOCA).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DB237-F6AF-49B9-887B-2BBCCF0390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908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83A0CCF-5192-4517-8A00-15B6E962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Metadata with Metagoofil 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A1B2839-9AF3-40B5-B8F6-DDE9403D4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Metagoofil scrapes metadata, </a:t>
            </a:r>
            <a:r>
              <a:rPr lang="en-US" dirty="0">
                <a:solidFill>
                  <a:srgbClr val="000000"/>
                </a:solidFill>
              </a:rPr>
              <a:t>such as the author, company, title, and subject, from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public documents on the target website(s</a:t>
            </a:r>
            <a:r>
              <a:rPr lang="en-US" dirty="0">
                <a:solidFill>
                  <a:srgbClr val="000000"/>
                </a:solidFill>
              </a:rPr>
              <a:t>)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The output is then </a:t>
            </a:r>
            <a:r>
              <a:rPr lang="en-US" dirty="0">
                <a:solidFill>
                  <a:srgbClr val="000000"/>
                </a:solidFill>
              </a:rPr>
              <a:t>displayed in a standard browser using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HTML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When searching, commands will control the type of data:</a:t>
            </a:r>
          </a:p>
          <a:p>
            <a:pPr lvl="1"/>
            <a:r>
              <a:rPr lang="en-US" dirty="0"/>
              <a:t>Using </a:t>
            </a:r>
            <a:r>
              <a:rPr lang="en-US" b="1" dirty="0"/>
              <a:t>-d comptia.org </a:t>
            </a:r>
            <a:r>
              <a:rPr lang="en-US" dirty="0"/>
              <a:t>will scan for documents on Comptia.org</a:t>
            </a:r>
          </a:p>
          <a:p>
            <a:pPr lvl="1"/>
            <a:r>
              <a:rPr lang="en-US" dirty="0"/>
              <a:t>Using </a:t>
            </a:r>
            <a:r>
              <a:rPr lang="en-US" b="1" dirty="0"/>
              <a:t>-t pdf </a:t>
            </a:r>
            <a:r>
              <a:rPr lang="en-US" dirty="0"/>
              <a:t>will scan for pdf documents</a:t>
            </a:r>
          </a:p>
          <a:p>
            <a:pPr lvl="1"/>
            <a:r>
              <a:rPr lang="en-US" dirty="0"/>
              <a:t>Using </a:t>
            </a:r>
            <a:r>
              <a:rPr lang="en-US" b="1" dirty="0"/>
              <a:t>-l 75 </a:t>
            </a:r>
            <a:r>
              <a:rPr lang="en-US" dirty="0"/>
              <a:t>will search for 75 documents</a:t>
            </a:r>
            <a:endParaRPr lang="en-US" b="0" i="0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91D06-6E20-4E46-875C-DC98D17677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8130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DCCA-25B5-496B-8D00-46DA6ED3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Fingerprinting with FOCA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F1B17-110F-4563-BA38-9B777DF33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839470"/>
            <a:ext cx="8870950" cy="4046220"/>
          </a:xfrm>
        </p:spPr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A GUI tool used to discover metadata that may be hidden within documents, typically those downloaded from the web.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Can work with a variety of document types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MS Office along with the OpenDocument format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PDFs and graphical design file types (SVG)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Some of the useful metadata FOCA can extract includes: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User and people names, software and OS version information, printer information</a:t>
            </a:r>
            <a:r>
              <a:rPr lang="en-US" dirty="0">
                <a:solidFill>
                  <a:srgbClr val="000000"/>
                </a:solidFill>
              </a:rPr>
              <a:t>, and plaintext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passwords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5AC93-838B-4711-9705-9773D9A284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28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7106235-D45F-4C6D-ABCD-954034C2B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0494" y="3093644"/>
            <a:ext cx="4353948" cy="1140640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If prompt returns "User does not exist," this verifies the username is not in the database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FC6A03-55FF-462B-B1D1-D69089CDA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Monitoring Responses on a Login Page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94D69D-BBFD-4BEE-BDE2-6BF75650D4F5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489553" y="2971747"/>
            <a:ext cx="4371507" cy="1262537"/>
          </a:xfrm>
        </p:spPr>
        <p:txBody>
          <a:bodyPr/>
          <a:lstStyle/>
          <a:p>
            <a:r>
              <a:rPr lang="en-US" b="0" dirty="0">
                <a:solidFill>
                  <a:srgbClr val="000000"/>
                </a:solidFill>
              </a:rPr>
              <a:t>If prompt returns "Password is incorrect," this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verifies</a:t>
            </a:r>
            <a:r>
              <a:rPr lang="en-US" b="0" dirty="0">
                <a:solidFill>
                  <a:srgbClr val="000000"/>
                </a:solidFill>
              </a:rPr>
              <a:t> the username is in the database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E4269-4BE4-44FD-8514-F7CC7771EA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1A90F1F-DD62-49D7-8882-07F4FAE44DE7}"/>
              </a:ext>
            </a:extLst>
          </p:cNvPr>
          <p:cNvPicPr>
            <a:picLocks noGrp="1" noChangeAspect="1" noChangeArrowheads="1"/>
          </p:cNvPicPr>
          <p:nvPr>
            <p:ph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817" y="1190549"/>
            <a:ext cx="3395392" cy="114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4FECF08-48A3-4138-AC8D-B6F5A92EE1C6}"/>
              </a:ext>
            </a:extLst>
          </p:cNvPr>
          <p:cNvPicPr>
            <a:picLocks noGrp="1" noChangeAspect="1" noChangeArrowheads="1"/>
          </p:cNvPicPr>
          <p:nvPr>
            <p:ph idx="16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7005" y="1190550"/>
            <a:ext cx="3546600" cy="1140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815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Collecting Data with theHarvester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Can automate the information gathering tasks by using: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Google and Bing to gather information from public data sources.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Comodo's certificate search engine to obtain certificate information.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Social media sites like Twitter and LinkedIn.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Banner grabbing functionality using Shodan.</a:t>
            </a:r>
          </a:p>
          <a:p>
            <a:pPr algn="l"/>
            <a:r>
              <a:rPr lang="en-US" dirty="0"/>
              <a:t>theHarvester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gathers information on the following: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Subdomain names, Employee names, Email addresses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PGP key entries, Open ports and service banners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6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563" y="1336387"/>
            <a:ext cx="3882611" cy="2682875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When using theHarvester, enter the target domain and the data source. </a:t>
            </a:r>
          </a:p>
          <a:p>
            <a:r>
              <a:rPr lang="en-US" dirty="0"/>
              <a:t>The data can be used in an exploit, such as a Spearphishing attack.</a:t>
            </a:r>
          </a:p>
          <a:p>
            <a:pPr algn="l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31CC44C-5692-45C8-95B8-730D92035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198" y="1042884"/>
            <a:ext cx="4177851" cy="2976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1173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Gathering with Recon-ng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Recon-ng uses various modules to customize the search:</a:t>
            </a:r>
          </a:p>
          <a:p>
            <a:pPr lvl="1"/>
            <a:r>
              <a:rPr lang="en-US" dirty="0"/>
              <a:t>Whois query to identify points of contact</a:t>
            </a:r>
          </a:p>
          <a:p>
            <a:pPr lvl="1"/>
            <a:r>
              <a:rPr lang="en-US" dirty="0"/>
              <a:t>PGP key search </a:t>
            </a:r>
          </a:p>
          <a:p>
            <a:pPr lvl="1"/>
            <a:r>
              <a:rPr lang="en-US" dirty="0"/>
              <a:t>File crawler.</a:t>
            </a:r>
          </a:p>
          <a:p>
            <a:pPr lvl="1"/>
            <a:r>
              <a:rPr lang="en-US" dirty="0"/>
              <a:t>Social media profile associations.</a:t>
            </a:r>
          </a:p>
          <a:p>
            <a:pPr lvl="1"/>
            <a:r>
              <a:rPr lang="en-US" dirty="0"/>
              <a:t>DNS record enumerator</a:t>
            </a:r>
          </a:p>
          <a:p>
            <a:pPr lvl="1"/>
            <a:r>
              <a:rPr lang="en-US" dirty="0"/>
              <a:t>Check if the account has been associated with a breach.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2210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Presenting the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50" y="746760"/>
            <a:ext cx="8870950" cy="603250"/>
          </a:xfrm>
        </p:spPr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Enter the query and Recon-ng will then display the information: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73A96F-CC40-44C2-BD0B-98D869625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785" y="1603513"/>
            <a:ext cx="6833858" cy="30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933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Data with Maltego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5882B-10E2-446D-A76D-9CAE7BFA8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</a:rPr>
              <a:t>Maltego is an OSINT tool that can gather a wide variety of information on public resources. </a:t>
            </a:r>
            <a:endParaRPr lang="en-US" dirty="0"/>
          </a:p>
          <a:p>
            <a:pPr lvl="1"/>
            <a:r>
              <a:rPr lang="en-US" dirty="0">
                <a:solidFill>
                  <a:srgbClr val="000000"/>
                </a:solidFill>
              </a:rPr>
              <a:t>Uses a GUI to help users visualize the gathered information using an extensive library of "transforms" 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Gathers Individual's names and physical addresses, phone numbers and email addresses and external links</a:t>
            </a:r>
            <a:endParaRPr lang="en-US" dirty="0">
              <a:solidFill>
                <a:srgbClr val="000000"/>
              </a:solidFill>
            </a:endParaRPr>
          </a:p>
          <a:p>
            <a:pPr lvl="1"/>
            <a:r>
              <a:rPr lang="en-US" dirty="0">
                <a:solidFill>
                  <a:srgbClr val="000000"/>
                </a:solidFill>
              </a:rPr>
              <a:t>Compares the data with other sets of information to provide commonalities among the sources.</a:t>
            </a:r>
          </a:p>
          <a:p>
            <a:r>
              <a:rPr lang="en-US" dirty="0">
                <a:solidFill>
                  <a:srgbClr val="000000"/>
                </a:solidFill>
              </a:rPr>
              <a:t>The results of the query are then placed in node graphs, and then links are established between each node.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769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B708E-4083-4962-9240-C5792BEC3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Viewing a Maltego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412E95-C28E-4651-8C6C-3FC7371BF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18FD58F3-9B0A-4FF8-8ADD-109104B08C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431" y="1128819"/>
            <a:ext cx="6120125" cy="343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01105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7777-F702-4674-AB74-4A9C48DBA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with Shodan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7EC60-CB70-491A-AE79-FA18804E5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Shodan is a search engine designed to locate and index IoT devices that are connected to the Internet.</a:t>
            </a:r>
          </a:p>
          <a:p>
            <a:r>
              <a:rPr lang="en-US" dirty="0">
                <a:solidFill>
                  <a:srgbClr val="000000"/>
                </a:solidFill>
              </a:rPr>
              <a:t>Traffic lights, industrial control systems (ICSs), and other devices that have Internet connectivity and are part of the IoT. 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</a:rPr>
              <a:t>Shodan can be useful to the PenTest reconnaissance phase 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The team can locate the feed of a security camera outside the target organization’s office to get a better picture of the premises and its defenses.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</a:rPr>
              <a:t>If the target organization employs control systems, the team may be able to manipulate these remotely as part of the attack phase.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pPr algn="l"/>
            <a:endParaRPr lang="en-US" b="0" i="0" dirty="0">
              <a:solidFill>
                <a:srgbClr val="000000"/>
              </a:solidFill>
              <a:effectLst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031A0-F758-4954-BDCE-02DD13EDFB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4144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910985-B36C-4A8C-8F00-496036FF49CE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Recall how the team can use OSINT tools during the PenTest</a:t>
            </a:r>
          </a:p>
          <a:p>
            <a:r>
              <a:rPr lang="en-US" dirty="0">
                <a:solidFill>
                  <a:srgbClr val="000000"/>
                </a:solidFill>
              </a:rPr>
              <a:t>Explain how the team can use </a:t>
            </a:r>
            <a:r>
              <a:rPr lang="en-US" b="0" i="0" dirty="0">
                <a:solidFill>
                  <a:srgbClr val="000000"/>
                </a:solidFill>
                <a:effectLst/>
              </a:rPr>
              <a:t>Metagoofil and </a:t>
            </a:r>
            <a:r>
              <a:rPr lang="en-US" dirty="0"/>
              <a:t>FOCA </a:t>
            </a:r>
          </a:p>
          <a:p>
            <a:r>
              <a:rPr lang="en-US" dirty="0">
                <a:solidFill>
                  <a:srgbClr val="000000"/>
                </a:solidFill>
              </a:rPr>
              <a:t>List ways theHarvester can automate information gathering </a:t>
            </a:r>
          </a:p>
          <a:p>
            <a:r>
              <a:rPr lang="en-US" dirty="0">
                <a:solidFill>
                  <a:srgbClr val="000000"/>
                </a:solidFill>
              </a:rPr>
              <a:t>Review how Recon-ng uses modules to customize a search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</a:rPr>
              <a:t>Outline the benefits of using Maltego to gather information on public resources. </a:t>
            </a:r>
            <a:endParaRPr lang="en-US" dirty="0"/>
          </a:p>
          <a:p>
            <a:r>
              <a:rPr lang="en-US" dirty="0">
                <a:solidFill>
                  <a:srgbClr val="000000"/>
                </a:solidFill>
              </a:rPr>
              <a:t>Describe how Shodan can locate and index IoT devices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1BF6B6-2A64-4049-9A00-5F58CF8B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Discover Open-Source Intelligence Tools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A93A8-0B2C-4C9B-8D0F-9591D5A4C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753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159B2B-48E2-4647-ABDD-6BF7993BEC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708AE-48ED-4852-AE39-86C44E3C31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46050" y="748621"/>
            <a:ext cx="3742072" cy="4044357"/>
          </a:xfrm>
        </p:spPr>
        <p:txBody>
          <a:bodyPr/>
          <a:lstStyle/>
          <a:p>
            <a:pPr marL="0" indent="0">
              <a:buNone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Assisted Lab: Exploring the Lab Environment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Assisted Lab: Gathering Intelligence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3E43AC-45A4-4D84-834A-CE8499000767}"/>
              </a:ext>
            </a:extLst>
          </p:cNvPr>
          <p:cNvSpPr txBox="1"/>
          <p:nvPr/>
        </p:nvSpPr>
        <p:spPr>
          <a:xfrm>
            <a:off x="3975101" y="742950"/>
            <a:ext cx="5120843" cy="3986972"/>
          </a:xfrm>
          <a:custGeom>
            <a:avLst/>
            <a:gdLst>
              <a:gd name="connsiteX0" fmla="*/ 0 w 5120843"/>
              <a:gd name="connsiteY0" fmla="*/ 0 h 3986972"/>
              <a:gd name="connsiteX1" fmla="*/ 620191 w 5120843"/>
              <a:gd name="connsiteY1" fmla="*/ 0 h 3986972"/>
              <a:gd name="connsiteX2" fmla="*/ 1035548 w 5120843"/>
              <a:gd name="connsiteY2" fmla="*/ 0 h 3986972"/>
              <a:gd name="connsiteX3" fmla="*/ 1655739 w 5120843"/>
              <a:gd name="connsiteY3" fmla="*/ 0 h 3986972"/>
              <a:gd name="connsiteX4" fmla="*/ 2173513 w 5120843"/>
              <a:gd name="connsiteY4" fmla="*/ 0 h 3986972"/>
              <a:gd name="connsiteX5" fmla="*/ 2793704 w 5120843"/>
              <a:gd name="connsiteY5" fmla="*/ 0 h 3986972"/>
              <a:gd name="connsiteX6" fmla="*/ 3260270 w 5120843"/>
              <a:gd name="connsiteY6" fmla="*/ 0 h 3986972"/>
              <a:gd name="connsiteX7" fmla="*/ 3931669 w 5120843"/>
              <a:gd name="connsiteY7" fmla="*/ 0 h 3986972"/>
              <a:gd name="connsiteX8" fmla="*/ 4603069 w 5120843"/>
              <a:gd name="connsiteY8" fmla="*/ 0 h 3986972"/>
              <a:gd name="connsiteX9" fmla="*/ 5120843 w 5120843"/>
              <a:gd name="connsiteY9" fmla="*/ 0 h 3986972"/>
              <a:gd name="connsiteX10" fmla="*/ 5120843 w 5120843"/>
              <a:gd name="connsiteY10" fmla="*/ 489828 h 3986972"/>
              <a:gd name="connsiteX11" fmla="*/ 5120843 w 5120843"/>
              <a:gd name="connsiteY11" fmla="*/ 1139135 h 3986972"/>
              <a:gd name="connsiteX12" fmla="*/ 5120843 w 5120843"/>
              <a:gd name="connsiteY12" fmla="*/ 1788442 h 3986972"/>
              <a:gd name="connsiteX13" fmla="*/ 5120843 w 5120843"/>
              <a:gd name="connsiteY13" fmla="*/ 2437749 h 3986972"/>
              <a:gd name="connsiteX14" fmla="*/ 5120843 w 5120843"/>
              <a:gd name="connsiteY14" fmla="*/ 2887707 h 3986972"/>
              <a:gd name="connsiteX15" fmla="*/ 5120843 w 5120843"/>
              <a:gd name="connsiteY15" fmla="*/ 3377535 h 3986972"/>
              <a:gd name="connsiteX16" fmla="*/ 5120843 w 5120843"/>
              <a:gd name="connsiteY16" fmla="*/ 3986972 h 3986972"/>
              <a:gd name="connsiteX17" fmla="*/ 4500652 w 5120843"/>
              <a:gd name="connsiteY17" fmla="*/ 3986972 h 3986972"/>
              <a:gd name="connsiteX18" fmla="*/ 4034086 w 5120843"/>
              <a:gd name="connsiteY18" fmla="*/ 3986972 h 3986972"/>
              <a:gd name="connsiteX19" fmla="*/ 3362687 w 5120843"/>
              <a:gd name="connsiteY19" fmla="*/ 3986972 h 3986972"/>
              <a:gd name="connsiteX20" fmla="*/ 2691287 w 5120843"/>
              <a:gd name="connsiteY20" fmla="*/ 3986972 h 3986972"/>
              <a:gd name="connsiteX21" fmla="*/ 2224722 w 5120843"/>
              <a:gd name="connsiteY21" fmla="*/ 3986972 h 3986972"/>
              <a:gd name="connsiteX22" fmla="*/ 1809365 w 5120843"/>
              <a:gd name="connsiteY22" fmla="*/ 3986972 h 3986972"/>
              <a:gd name="connsiteX23" fmla="*/ 1394007 w 5120843"/>
              <a:gd name="connsiteY23" fmla="*/ 3986972 h 3986972"/>
              <a:gd name="connsiteX24" fmla="*/ 876233 w 5120843"/>
              <a:gd name="connsiteY24" fmla="*/ 3986972 h 3986972"/>
              <a:gd name="connsiteX25" fmla="*/ 0 w 5120843"/>
              <a:gd name="connsiteY25" fmla="*/ 3986972 h 3986972"/>
              <a:gd name="connsiteX26" fmla="*/ 0 w 5120843"/>
              <a:gd name="connsiteY26" fmla="*/ 3457274 h 3986972"/>
              <a:gd name="connsiteX27" fmla="*/ 0 w 5120843"/>
              <a:gd name="connsiteY27" fmla="*/ 2927577 h 3986972"/>
              <a:gd name="connsiteX28" fmla="*/ 0 w 5120843"/>
              <a:gd name="connsiteY28" fmla="*/ 2278270 h 3986972"/>
              <a:gd name="connsiteX29" fmla="*/ 0 w 5120843"/>
              <a:gd name="connsiteY29" fmla="*/ 1748572 h 3986972"/>
              <a:gd name="connsiteX30" fmla="*/ 0 w 5120843"/>
              <a:gd name="connsiteY30" fmla="*/ 1298614 h 3986972"/>
              <a:gd name="connsiteX31" fmla="*/ 0 w 5120843"/>
              <a:gd name="connsiteY31" fmla="*/ 768916 h 3986972"/>
              <a:gd name="connsiteX32" fmla="*/ 0 w 5120843"/>
              <a:gd name="connsiteY32" fmla="*/ 0 h 39869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5120843" h="3986972" fill="none" extrusionOk="0">
                <a:moveTo>
                  <a:pt x="0" y="0"/>
                </a:moveTo>
                <a:cubicBezTo>
                  <a:pt x="181082" y="-44144"/>
                  <a:pt x="332351" y="17296"/>
                  <a:pt x="620191" y="0"/>
                </a:cubicBezTo>
                <a:cubicBezTo>
                  <a:pt x="908031" y="-17296"/>
                  <a:pt x="913865" y="31805"/>
                  <a:pt x="1035548" y="0"/>
                </a:cubicBezTo>
                <a:cubicBezTo>
                  <a:pt x="1157231" y="-31805"/>
                  <a:pt x="1401820" y="28595"/>
                  <a:pt x="1655739" y="0"/>
                </a:cubicBezTo>
                <a:cubicBezTo>
                  <a:pt x="1909658" y="-28595"/>
                  <a:pt x="2005301" y="20107"/>
                  <a:pt x="2173513" y="0"/>
                </a:cubicBezTo>
                <a:cubicBezTo>
                  <a:pt x="2341725" y="-20107"/>
                  <a:pt x="2581271" y="43917"/>
                  <a:pt x="2793704" y="0"/>
                </a:cubicBezTo>
                <a:cubicBezTo>
                  <a:pt x="3006137" y="-43917"/>
                  <a:pt x="3042637" y="10045"/>
                  <a:pt x="3260270" y="0"/>
                </a:cubicBezTo>
                <a:cubicBezTo>
                  <a:pt x="3477903" y="-10045"/>
                  <a:pt x="3644284" y="77189"/>
                  <a:pt x="3931669" y="0"/>
                </a:cubicBezTo>
                <a:cubicBezTo>
                  <a:pt x="4219054" y="-77189"/>
                  <a:pt x="4316130" y="46666"/>
                  <a:pt x="4603069" y="0"/>
                </a:cubicBezTo>
                <a:cubicBezTo>
                  <a:pt x="4890008" y="-46666"/>
                  <a:pt x="4998350" y="36197"/>
                  <a:pt x="5120843" y="0"/>
                </a:cubicBezTo>
                <a:cubicBezTo>
                  <a:pt x="5128488" y="186839"/>
                  <a:pt x="5112671" y="254479"/>
                  <a:pt x="5120843" y="489828"/>
                </a:cubicBezTo>
                <a:cubicBezTo>
                  <a:pt x="5129015" y="725177"/>
                  <a:pt x="5060647" y="965704"/>
                  <a:pt x="5120843" y="1139135"/>
                </a:cubicBezTo>
                <a:cubicBezTo>
                  <a:pt x="5181039" y="1312566"/>
                  <a:pt x="5049372" y="1539935"/>
                  <a:pt x="5120843" y="1788442"/>
                </a:cubicBezTo>
                <a:cubicBezTo>
                  <a:pt x="5192314" y="2036949"/>
                  <a:pt x="5061265" y="2214741"/>
                  <a:pt x="5120843" y="2437749"/>
                </a:cubicBezTo>
                <a:cubicBezTo>
                  <a:pt x="5180421" y="2660757"/>
                  <a:pt x="5078268" y="2666755"/>
                  <a:pt x="5120843" y="2887707"/>
                </a:cubicBezTo>
                <a:cubicBezTo>
                  <a:pt x="5163418" y="3108659"/>
                  <a:pt x="5103872" y="3212463"/>
                  <a:pt x="5120843" y="3377535"/>
                </a:cubicBezTo>
                <a:cubicBezTo>
                  <a:pt x="5137814" y="3542607"/>
                  <a:pt x="5090777" y="3838116"/>
                  <a:pt x="5120843" y="3986972"/>
                </a:cubicBezTo>
                <a:cubicBezTo>
                  <a:pt x="4958232" y="4008270"/>
                  <a:pt x="4738321" y="3954766"/>
                  <a:pt x="4500652" y="3986972"/>
                </a:cubicBezTo>
                <a:cubicBezTo>
                  <a:pt x="4262983" y="4019178"/>
                  <a:pt x="4225098" y="3932484"/>
                  <a:pt x="4034086" y="3986972"/>
                </a:cubicBezTo>
                <a:cubicBezTo>
                  <a:pt x="3843074" y="4041460"/>
                  <a:pt x="3602078" y="3914575"/>
                  <a:pt x="3362687" y="3986972"/>
                </a:cubicBezTo>
                <a:cubicBezTo>
                  <a:pt x="3123296" y="4059369"/>
                  <a:pt x="2951314" y="3919249"/>
                  <a:pt x="2691287" y="3986972"/>
                </a:cubicBezTo>
                <a:cubicBezTo>
                  <a:pt x="2431260" y="4054695"/>
                  <a:pt x="2350391" y="3956158"/>
                  <a:pt x="2224722" y="3986972"/>
                </a:cubicBezTo>
                <a:cubicBezTo>
                  <a:pt x="2099054" y="4017786"/>
                  <a:pt x="1991047" y="3955209"/>
                  <a:pt x="1809365" y="3986972"/>
                </a:cubicBezTo>
                <a:cubicBezTo>
                  <a:pt x="1627683" y="4018735"/>
                  <a:pt x="1518268" y="3941113"/>
                  <a:pt x="1394007" y="3986972"/>
                </a:cubicBezTo>
                <a:cubicBezTo>
                  <a:pt x="1269746" y="4032831"/>
                  <a:pt x="1001496" y="3974555"/>
                  <a:pt x="876233" y="3986972"/>
                </a:cubicBezTo>
                <a:cubicBezTo>
                  <a:pt x="750970" y="3999389"/>
                  <a:pt x="342774" y="3907284"/>
                  <a:pt x="0" y="3986972"/>
                </a:cubicBezTo>
                <a:cubicBezTo>
                  <a:pt x="-41093" y="3761640"/>
                  <a:pt x="12633" y="3591114"/>
                  <a:pt x="0" y="3457274"/>
                </a:cubicBezTo>
                <a:cubicBezTo>
                  <a:pt x="-12633" y="3323434"/>
                  <a:pt x="53828" y="3048359"/>
                  <a:pt x="0" y="2927577"/>
                </a:cubicBezTo>
                <a:cubicBezTo>
                  <a:pt x="-53828" y="2806795"/>
                  <a:pt x="22417" y="2456264"/>
                  <a:pt x="0" y="2278270"/>
                </a:cubicBezTo>
                <a:cubicBezTo>
                  <a:pt x="-22417" y="2100276"/>
                  <a:pt x="52072" y="1993161"/>
                  <a:pt x="0" y="1748572"/>
                </a:cubicBezTo>
                <a:cubicBezTo>
                  <a:pt x="-52072" y="1503983"/>
                  <a:pt x="23634" y="1446189"/>
                  <a:pt x="0" y="1298614"/>
                </a:cubicBezTo>
                <a:cubicBezTo>
                  <a:pt x="-23634" y="1151039"/>
                  <a:pt x="2064" y="1023762"/>
                  <a:pt x="0" y="768916"/>
                </a:cubicBezTo>
                <a:cubicBezTo>
                  <a:pt x="-2064" y="514070"/>
                  <a:pt x="41086" y="192150"/>
                  <a:pt x="0" y="0"/>
                </a:cubicBezTo>
                <a:close/>
              </a:path>
              <a:path w="5120843" h="3986972" stroke="0" extrusionOk="0">
                <a:moveTo>
                  <a:pt x="0" y="0"/>
                </a:moveTo>
                <a:cubicBezTo>
                  <a:pt x="196917" y="-3664"/>
                  <a:pt x="331007" y="36965"/>
                  <a:pt x="568983" y="0"/>
                </a:cubicBezTo>
                <a:cubicBezTo>
                  <a:pt x="806959" y="-36965"/>
                  <a:pt x="895566" y="12616"/>
                  <a:pt x="1137965" y="0"/>
                </a:cubicBezTo>
                <a:cubicBezTo>
                  <a:pt x="1380364" y="-12616"/>
                  <a:pt x="1373421" y="28097"/>
                  <a:pt x="1604531" y="0"/>
                </a:cubicBezTo>
                <a:cubicBezTo>
                  <a:pt x="1835641" y="-28097"/>
                  <a:pt x="1991050" y="62516"/>
                  <a:pt x="2275930" y="0"/>
                </a:cubicBezTo>
                <a:cubicBezTo>
                  <a:pt x="2560810" y="-62516"/>
                  <a:pt x="2764877" y="24309"/>
                  <a:pt x="2896121" y="0"/>
                </a:cubicBezTo>
                <a:cubicBezTo>
                  <a:pt x="3027365" y="-24309"/>
                  <a:pt x="3333223" y="68499"/>
                  <a:pt x="3567521" y="0"/>
                </a:cubicBezTo>
                <a:cubicBezTo>
                  <a:pt x="3801819" y="-68499"/>
                  <a:pt x="3880549" y="26681"/>
                  <a:pt x="4034086" y="0"/>
                </a:cubicBezTo>
                <a:cubicBezTo>
                  <a:pt x="4187623" y="-26681"/>
                  <a:pt x="4292075" y="6610"/>
                  <a:pt x="4449444" y="0"/>
                </a:cubicBezTo>
                <a:cubicBezTo>
                  <a:pt x="4606813" y="-6610"/>
                  <a:pt x="4924858" y="50377"/>
                  <a:pt x="5120843" y="0"/>
                </a:cubicBezTo>
                <a:cubicBezTo>
                  <a:pt x="5124064" y="177052"/>
                  <a:pt x="5075000" y="364208"/>
                  <a:pt x="5120843" y="609437"/>
                </a:cubicBezTo>
                <a:cubicBezTo>
                  <a:pt x="5166686" y="854666"/>
                  <a:pt x="5080602" y="1006665"/>
                  <a:pt x="5120843" y="1258744"/>
                </a:cubicBezTo>
                <a:cubicBezTo>
                  <a:pt x="5161084" y="1510823"/>
                  <a:pt x="5065440" y="1665073"/>
                  <a:pt x="5120843" y="1908051"/>
                </a:cubicBezTo>
                <a:cubicBezTo>
                  <a:pt x="5176246" y="2151029"/>
                  <a:pt x="5063729" y="2204958"/>
                  <a:pt x="5120843" y="2477618"/>
                </a:cubicBezTo>
                <a:cubicBezTo>
                  <a:pt x="5177957" y="2750278"/>
                  <a:pt x="5087919" y="2838664"/>
                  <a:pt x="5120843" y="3126925"/>
                </a:cubicBezTo>
                <a:cubicBezTo>
                  <a:pt x="5153767" y="3415186"/>
                  <a:pt x="5044073" y="3617059"/>
                  <a:pt x="5120843" y="3986972"/>
                </a:cubicBezTo>
                <a:cubicBezTo>
                  <a:pt x="4997668" y="3999707"/>
                  <a:pt x="4820200" y="3951302"/>
                  <a:pt x="4705486" y="3986972"/>
                </a:cubicBezTo>
                <a:cubicBezTo>
                  <a:pt x="4590772" y="4022642"/>
                  <a:pt x="4451539" y="3944457"/>
                  <a:pt x="4238920" y="3986972"/>
                </a:cubicBezTo>
                <a:cubicBezTo>
                  <a:pt x="4026301" y="4029487"/>
                  <a:pt x="3838266" y="3921800"/>
                  <a:pt x="3618729" y="3986972"/>
                </a:cubicBezTo>
                <a:cubicBezTo>
                  <a:pt x="3399192" y="4052144"/>
                  <a:pt x="3343191" y="3981849"/>
                  <a:pt x="3152163" y="3986972"/>
                </a:cubicBezTo>
                <a:cubicBezTo>
                  <a:pt x="2961135" y="3992095"/>
                  <a:pt x="2783312" y="3927901"/>
                  <a:pt x="2583181" y="3986972"/>
                </a:cubicBezTo>
                <a:cubicBezTo>
                  <a:pt x="2383050" y="4046043"/>
                  <a:pt x="2319553" y="3935605"/>
                  <a:pt x="2065407" y="3986972"/>
                </a:cubicBezTo>
                <a:cubicBezTo>
                  <a:pt x="1811261" y="4038339"/>
                  <a:pt x="1855188" y="3971939"/>
                  <a:pt x="1650049" y="3986972"/>
                </a:cubicBezTo>
                <a:cubicBezTo>
                  <a:pt x="1444910" y="4002005"/>
                  <a:pt x="1360394" y="3981690"/>
                  <a:pt x="1081067" y="3986972"/>
                </a:cubicBezTo>
                <a:cubicBezTo>
                  <a:pt x="801740" y="3992254"/>
                  <a:pt x="814428" y="3941863"/>
                  <a:pt x="665710" y="3986972"/>
                </a:cubicBezTo>
                <a:cubicBezTo>
                  <a:pt x="516992" y="4032081"/>
                  <a:pt x="318869" y="3967429"/>
                  <a:pt x="0" y="3986972"/>
                </a:cubicBezTo>
                <a:cubicBezTo>
                  <a:pt x="-38782" y="3876890"/>
                  <a:pt x="24531" y="3734988"/>
                  <a:pt x="0" y="3537014"/>
                </a:cubicBezTo>
                <a:cubicBezTo>
                  <a:pt x="-24531" y="3339040"/>
                  <a:pt x="3800" y="3024723"/>
                  <a:pt x="0" y="2887707"/>
                </a:cubicBezTo>
                <a:cubicBezTo>
                  <a:pt x="-3800" y="2750691"/>
                  <a:pt x="22496" y="2499081"/>
                  <a:pt x="0" y="2358009"/>
                </a:cubicBezTo>
                <a:cubicBezTo>
                  <a:pt x="-22496" y="2216937"/>
                  <a:pt x="26334" y="2017386"/>
                  <a:pt x="0" y="1868181"/>
                </a:cubicBezTo>
                <a:cubicBezTo>
                  <a:pt x="-26334" y="1718976"/>
                  <a:pt x="31746" y="1426559"/>
                  <a:pt x="0" y="1218874"/>
                </a:cubicBezTo>
                <a:cubicBezTo>
                  <a:pt x="-31746" y="1011189"/>
                  <a:pt x="40466" y="846605"/>
                  <a:pt x="0" y="729046"/>
                </a:cubicBezTo>
                <a:cubicBezTo>
                  <a:pt x="-40466" y="611487"/>
                  <a:pt x="3188" y="174080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336849449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57175" lvl="0" indent="-257175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85800" lvl="1" indent="-342900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857250" lvl="2" indent="-171450" defTabSz="342900">
              <a:spcBef>
                <a:spcPts val="1000"/>
              </a:spcBef>
              <a:spcAft>
                <a:spcPts val="600"/>
              </a:spcAft>
              <a:buClrTx/>
              <a:buSzPct val="100000"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200150" lvl="3" indent="-171450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543050" lvl="4" indent="-171450" defTabSz="342900">
              <a:spcBef>
                <a:spcPts val="100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1885950" indent="-171450" defTabSz="342900">
              <a:spcBef>
                <a:spcPct val="20000"/>
              </a:spcBef>
              <a:buFont typeface="Arial"/>
              <a:buChar char="•"/>
              <a:defRPr sz="1500"/>
            </a:lvl6pPr>
            <a:lvl7pPr marL="2228850" indent="-171450" defTabSz="342900">
              <a:spcBef>
                <a:spcPct val="20000"/>
              </a:spcBef>
              <a:buFont typeface="Arial"/>
              <a:buChar char="•"/>
              <a:defRPr sz="1500"/>
            </a:lvl7pPr>
            <a:lvl8pPr marL="2571750" indent="-171450" defTabSz="342900">
              <a:spcBef>
                <a:spcPct val="20000"/>
              </a:spcBef>
              <a:buFont typeface="Arial"/>
              <a:buChar char="•"/>
              <a:defRPr sz="1500"/>
            </a:lvl8pPr>
            <a:lvl9pPr marL="2914650" indent="-171450" defTabSz="342900">
              <a:spcBef>
                <a:spcPct val="20000"/>
              </a:spcBef>
              <a:buFont typeface="Arial"/>
              <a:buChar char="•"/>
              <a:defRPr sz="1500"/>
            </a:lvl9pPr>
          </a:lstStyle>
          <a:p>
            <a:pPr lvl="0"/>
            <a:r>
              <a:rPr lang="en-US" dirty="0">
                <a:solidFill>
                  <a:schemeClr val="accent1"/>
                </a:solidFill>
              </a:rPr>
              <a:t>Lab types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Assisted labs guide you step-by-step through tasks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Applied labs set goals with limited guidance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Complete lab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Submit all items for grading and check each progress box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Select “Grade Lab” from final page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Save lab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Select the hamburger menu and select “Save”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Save up to two labs in progress for up to 7 days</a:t>
            </a:r>
            <a:endParaRPr lang="en-GB" dirty="0">
              <a:solidFill>
                <a:schemeClr val="accent1"/>
              </a:solidFill>
            </a:endParaRPr>
          </a:p>
          <a:p>
            <a:pPr lvl="0"/>
            <a:r>
              <a:rPr lang="en-US" dirty="0">
                <a:solidFill>
                  <a:schemeClr val="accent1"/>
                </a:solidFill>
              </a:rPr>
              <a:t>Cancel lab without grading</a:t>
            </a:r>
          </a:p>
          <a:p>
            <a:pPr marL="685800" marR="0" lvl="1" indent="-342900" algn="l" defTabSz="3429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chemeClr val="accent1"/>
                </a:solidFill>
              </a:rPr>
              <a:t>Select the hamburger menu and select “End”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BE2E88-1023-417C-91BD-53B87CC9E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421816">
            <a:off x="3988506" y="507806"/>
            <a:ext cx="2225591" cy="57523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1E5D5AE-DD5E-43DF-9E59-06879D1C3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8457" y="2041782"/>
            <a:ext cx="1275893" cy="1905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B3C5ED1D-C224-4E8C-A1A6-7BA094A47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5042424" y="2922609"/>
            <a:ext cx="1694926" cy="42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066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912A6636-FB7B-434B-90D7-F68D09FF27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0895CF-B89C-4362-9D1E-CA6D941DA1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5E4A2-6543-4B60-AB1F-E70A19E699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11080"/>
      </p:ext>
    </p:extLst>
  </p:cSld>
  <p:clrMapOvr>
    <a:masterClrMapping/>
  </p:clrMapOvr>
</p:sld>
</file>

<file path=ppt/theme/theme1.xml><?xml version="1.0" encoding="utf-8"?>
<a:theme xmlns:a="http://schemas.openxmlformats.org/drawingml/2006/main" name="comptia_ov">
  <a:themeElements>
    <a:clrScheme name="comptia">
      <a:dk1>
        <a:srgbClr val="253644"/>
      </a:dk1>
      <a:lt1>
        <a:srgbClr val="FFFFFF"/>
      </a:lt1>
      <a:dk2>
        <a:srgbClr val="45545F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77869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 cap="flat" cmpd="sng" algn="ctr">
          <a:solidFill>
            <a:srgbClr val="FF0000"/>
          </a:solidFill>
          <a:prstDash val="solid"/>
        </a:ln>
        <a:effectLst/>
      </a:spPr>
      <a:bodyPr rtlCol="0" anchor="ctr"/>
      <a:lstStyle>
        <a:defPPr algn="ctr" defTabSz="914400">
          <a:defRPr sz="1100" b="1" kern="0" dirty="0" err="1" smtClean="0">
            <a:solidFill>
              <a:srgbClr val="FF0000"/>
            </a:solidFill>
            <a:latin typeface="Arial"/>
          </a:defRPr>
        </a:defPPr>
      </a:lstStyle>
    </a:spDef>
    <a:lnDef>
      <a:spPr>
        <a:ln w="1905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mptia_ova" id="{478531A2-6CBB-47DF-8787-97F322309993}" vid="{27DBB225-2D25-419A-A575-CF909A3C9BB4}"/>
    </a:ext>
  </a:extLst>
</a:theme>
</file>

<file path=ppt/theme/theme2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mptia">
      <a:dk1>
        <a:srgbClr val="253644"/>
      </a:dk1>
      <a:lt1>
        <a:srgbClr val="FFFFFF"/>
      </a:lt1>
      <a:dk2>
        <a:srgbClr val="778691"/>
      </a:dk2>
      <a:lt2>
        <a:srgbClr val="F4F4F4"/>
      </a:lt2>
      <a:accent1>
        <a:srgbClr val="00688E"/>
      </a:accent1>
      <a:accent2>
        <a:srgbClr val="0198A7"/>
      </a:accent2>
      <a:accent3>
        <a:srgbClr val="028EBD"/>
      </a:accent3>
      <a:accent4>
        <a:srgbClr val="DADFE1"/>
      </a:accent4>
      <a:accent5>
        <a:srgbClr val="CF0B2B"/>
      </a:accent5>
      <a:accent6>
        <a:srgbClr val="ED6D00"/>
      </a:accent6>
      <a:hlink>
        <a:srgbClr val="B24FC3"/>
      </a:hlink>
      <a:folHlink>
        <a:srgbClr val="73228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15eb565-7267-4a95-9087-2f433ded3c8b" xsi:nil="true"/>
    <_ip_UnifiedCompliancePolicyProperties xmlns="http://schemas.microsoft.com/sharepoint/v3" xsi:nil="true"/>
    <lcf76f155ced4ddcb4097134ff3c332f xmlns="95a46270-66ec-4bdf-aabc-d78887d5141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8AB8BE3257A504EB15FA3D006F5CE14" ma:contentTypeVersion="19" ma:contentTypeDescription="Create a new document." ma:contentTypeScope="" ma:versionID="982e8a56513d1ee2aafc01cca592f65d">
  <xsd:schema xmlns:xsd="http://www.w3.org/2001/XMLSchema" xmlns:xs="http://www.w3.org/2001/XMLSchema" xmlns:p="http://schemas.microsoft.com/office/2006/metadata/properties" xmlns:ns1="http://schemas.microsoft.com/sharepoint/v3" xmlns:ns2="95a46270-66ec-4bdf-aabc-d78887d51418" xmlns:ns3="315eb565-7267-4a95-9087-2f433ded3c8b" targetNamespace="http://schemas.microsoft.com/office/2006/metadata/properties" ma:root="true" ma:fieldsID="d7e83a006b54384a7189437426092eef" ns1:_="" ns2:_="" ns3:_="">
    <xsd:import namespace="http://schemas.microsoft.com/sharepoint/v3"/>
    <xsd:import namespace="95a46270-66ec-4bdf-aabc-d78887d51418"/>
    <xsd:import namespace="315eb565-7267-4a95-9087-2f433ded3c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a46270-66ec-4bdf-aabc-d78887d51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internalName="MediaServiceAutoTags" ma:readOnly="true">
      <xsd:simpleType>
        <xsd:restriction base="dms:Text"/>
      </xsd:simpleType>
    </xsd:element>
    <xsd:element name="MediaServiceOCR" ma:index="14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27b08e0c-9838-438a-a46d-e871ec00c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eb565-7267-4a95-9087-2f433ded3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32a667b-0d96-4d3d-ae00-1e23d06ed90f}" ma:internalName="TaxCatchAll" ma:showField="CatchAllData" ma:web="315eb565-7267-4a95-9087-2f433ded3c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2CFB8D-1019-43EC-BFD1-51DA400163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04A4A-BEBA-46F7-8D91-096B77966F98}">
  <ds:schemaRefs>
    <ds:schemaRef ds:uri="http://schemas.openxmlformats.org/package/2006/metadata/core-properties"/>
    <ds:schemaRef ds:uri="http://schemas.microsoft.com/office/2006/metadata/properties"/>
    <ds:schemaRef ds:uri="http://purl.org/dc/terms/"/>
    <ds:schemaRef ds:uri="95a46270-66ec-4bdf-aabc-d78887d51418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315eb565-7267-4a95-9087-2f433ded3c8b"/>
    <ds:schemaRef ds:uri="http://purl.org/dc/dcmitype/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8F6E1938-A4D4-4DF7-9FDB-0E547AC5D6C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5a46270-66ec-4bdf-aabc-d78887d51418"/>
    <ds:schemaRef ds:uri="315eb565-7267-4a95-9087-2f433ded3c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comptia_ova</Template>
  <TotalTime>4530</TotalTime>
  <Words>2647</Words>
  <Application>Microsoft Office PowerPoint</Application>
  <PresentationFormat>On-screen Show (16:9)</PresentationFormat>
  <Paragraphs>304</Paragraphs>
  <Slides>42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Calibri</vt:lpstr>
      <vt:lpstr>Open Sans</vt:lpstr>
      <vt:lpstr>Arial</vt:lpstr>
      <vt:lpstr>comptia_ov</vt:lpstr>
      <vt:lpstr>Exam PT0-002</vt:lpstr>
      <vt:lpstr>Footprinting and Gathering Intelligence</vt:lpstr>
      <vt:lpstr>Objectives</vt:lpstr>
      <vt:lpstr>Discover the Target</vt:lpstr>
      <vt:lpstr>Gather Information</vt:lpstr>
      <vt:lpstr>Record the Findings</vt:lpstr>
      <vt:lpstr>Identify Organizational Details</vt:lpstr>
      <vt:lpstr>Examine DNS Information</vt:lpstr>
      <vt:lpstr>Discover the Target</vt:lpstr>
      <vt:lpstr>Gather Essential Data</vt:lpstr>
      <vt:lpstr>Use Public Source Code Repositories</vt:lpstr>
      <vt:lpstr>Google Hacking</vt:lpstr>
      <vt:lpstr>Unearthing Archived Websites</vt:lpstr>
      <vt:lpstr>Searching for Images and Interesting Data</vt:lpstr>
      <vt:lpstr>Gather Essential Data</vt:lpstr>
      <vt:lpstr>Compile Website Information</vt:lpstr>
      <vt:lpstr>Evaluating the Website</vt:lpstr>
      <vt:lpstr>Extending Your Reach</vt:lpstr>
      <vt:lpstr>Evaluating the robots.txt File</vt:lpstr>
      <vt:lpstr>Recognizing Certificate Flaws</vt:lpstr>
      <vt:lpstr>Discovering Certificate Details </vt:lpstr>
      <vt:lpstr>Using the Certificate Transparency Framework</vt:lpstr>
      <vt:lpstr>Revoking the Certificate </vt:lpstr>
      <vt:lpstr>Standard OCSP Process</vt:lpstr>
      <vt:lpstr>Stapling the Certificate</vt:lpstr>
      <vt:lpstr>Compile Website Information</vt:lpstr>
      <vt:lpstr>Discover Open-Source Intelligence Tools</vt:lpstr>
      <vt:lpstr>Open-source Intelligence Tools (OSINT)</vt:lpstr>
      <vt:lpstr>Searching Metadata</vt:lpstr>
      <vt:lpstr>Searching Metadata with Metagoofil </vt:lpstr>
      <vt:lpstr>Fingerprinting with FOCA </vt:lpstr>
      <vt:lpstr>Monitoring Responses on a Login Page</vt:lpstr>
      <vt:lpstr>Collecting Data with theHarvester </vt:lpstr>
      <vt:lpstr>Gathering Data</vt:lpstr>
      <vt:lpstr>Gathering with Recon-ng </vt:lpstr>
      <vt:lpstr>Presenting the Information</vt:lpstr>
      <vt:lpstr>Transforming Data with Maltego</vt:lpstr>
      <vt:lpstr>Viewing a Maltego Graph</vt:lpstr>
      <vt:lpstr>Searching with Shodan</vt:lpstr>
      <vt:lpstr>Discover Open-Source Intelligence Tools</vt:lpstr>
      <vt:lpstr>PowerPoint Presentation</vt:lpstr>
      <vt:lpstr>PowerPoint Presentation</vt:lpstr>
    </vt:vector>
  </TitlesOfParts>
  <Company>CompTIA,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Slide deck to accompany a CompTIA OCC study guide</dc:subject>
  <dc:creator>Danielle Andries</dc:creator>
  <dc:description>Copyright © 2022 CompTIA, Inc. All Rights Reserved.  |  CompTIA.org</dc:description>
  <cp:lastModifiedBy>Danielle Andries</cp:lastModifiedBy>
  <cp:revision>5</cp:revision>
  <dcterms:created xsi:type="dcterms:W3CDTF">2021-09-23T15:15:08Z</dcterms:created>
  <dcterms:modified xsi:type="dcterms:W3CDTF">2022-10-19T21:20:53Z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0x010100F8AB8BE3257A504EB15FA3D006F5CE14</vt:lpwstr>
  </property>
  <property fmtid="{D5CDD505-2E9C-101B-9397-08002B2CF9AE}" pid="3" name="MediaServiceImageTags">
    <vt:lpwstr/>
  </property>
</Properties>
</file>