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44"/>
  </p:notesMasterIdLst>
  <p:handoutMasterIdLst>
    <p:handoutMasterId r:id="rId45"/>
  </p:handoutMasterIdLst>
  <p:sldIdLst>
    <p:sldId id="257" r:id="rId5"/>
    <p:sldId id="258" r:id="rId6"/>
    <p:sldId id="256" r:id="rId7"/>
    <p:sldId id="259" r:id="rId8"/>
    <p:sldId id="264" r:id="rId9"/>
    <p:sldId id="306" r:id="rId10"/>
    <p:sldId id="265" r:id="rId11"/>
    <p:sldId id="296" r:id="rId12"/>
    <p:sldId id="308" r:id="rId13"/>
    <p:sldId id="298" r:id="rId14"/>
    <p:sldId id="261" r:id="rId15"/>
    <p:sldId id="266" r:id="rId16"/>
    <p:sldId id="307" r:id="rId17"/>
    <p:sldId id="267" r:id="rId18"/>
    <p:sldId id="268" r:id="rId19"/>
    <p:sldId id="269" r:id="rId20"/>
    <p:sldId id="319" r:id="rId21"/>
    <p:sldId id="300" r:id="rId22"/>
    <p:sldId id="270" r:id="rId23"/>
    <p:sldId id="271" r:id="rId24"/>
    <p:sldId id="272" r:id="rId25"/>
    <p:sldId id="303" r:id="rId26"/>
    <p:sldId id="275" r:id="rId27"/>
    <p:sldId id="284" r:id="rId28"/>
    <p:sldId id="285" r:id="rId29"/>
    <p:sldId id="286" r:id="rId30"/>
    <p:sldId id="287" r:id="rId31"/>
    <p:sldId id="288" r:id="rId32"/>
    <p:sldId id="310" r:id="rId33"/>
    <p:sldId id="311" r:id="rId34"/>
    <p:sldId id="289" r:id="rId35"/>
    <p:sldId id="290" r:id="rId36"/>
    <p:sldId id="291" r:id="rId37"/>
    <p:sldId id="292" r:id="rId38"/>
    <p:sldId id="293" r:id="rId39"/>
    <p:sldId id="315" r:id="rId40"/>
    <p:sldId id="294" r:id="rId41"/>
    <p:sldId id="295" r:id="rId42"/>
    <p:sldId id="281" r:id="rId43"/>
  </p:sldIdLst>
  <p:sldSz cx="9144000" cy="5143500" type="screen16x9"/>
  <p:notesSz cx="6858000" cy="9144000"/>
  <p:embeddedFontLst>
    <p:embeddedFont>
      <p:font typeface="Calibri" panose="020F0502020204030204" pitchFamily="34" charset="0"/>
      <p:regular r:id="rId46"/>
      <p:bold r:id="rId47"/>
      <p:italic r:id="rId48"/>
      <p:boldItalic r:id="rId49"/>
    </p:embeddedFont>
    <p:embeddedFont>
      <p:font typeface="Lucida Console" panose="020B0609040504020204" pitchFamily="49" charset="0"/>
      <p:regular r:id="rId50"/>
    </p:embeddedFont>
    <p:embeddedFont>
      <p:font typeface="Open Sans" panose="020B0606030504020204" pitchFamily="34" charset="0"/>
      <p:regular r:id="rId51"/>
      <p:bold r:id="rId52"/>
      <p:italic r:id="rId53"/>
      <p:boldItalic r:id="rId5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73961" autoAdjust="0"/>
  </p:normalViewPr>
  <p:slideViewPr>
    <p:cSldViewPr snapToGrid="0">
      <p:cViewPr varScale="1">
        <p:scale>
          <a:sx n="109" d="100"/>
          <a:sy n="109" d="100"/>
        </p:scale>
        <p:origin x="1710" y="90"/>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3" Type="http://schemas.openxmlformats.org/officeDocument/2006/relationships/font" Target="fonts/font8.fntdata"/><Relationship Id="rId58"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3.fntdata"/><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font" Target="fonts/font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1.fntdata"/><Relationship Id="rId59"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4.fntdata"/><Relationship Id="rId57" Type="http://schemas.openxmlformats.org/officeDocument/2006/relationships/viewProps" Target="view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openxmlformats.org/officeDocument/2006/relationships/font" Target="fonts/font7.fntdata"/><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sa Bock" userId="1f2a7945151d6011" providerId="LiveId" clId="{C9F47212-DE4B-4763-835A-CA95C59E311C}"/>
    <pc:docChg chg="undo redo custSel delSld modSld">
      <pc:chgData name="Lisa Bock" userId="1f2a7945151d6011" providerId="LiveId" clId="{C9F47212-DE4B-4763-835A-CA95C59E311C}" dt="2021-10-20T18:12:10.176" v="1644" actId="20577"/>
      <pc:docMkLst>
        <pc:docMk/>
      </pc:docMkLst>
      <pc:sldChg chg="modSp mod">
        <pc:chgData name="Lisa Bock" userId="1f2a7945151d6011" providerId="LiveId" clId="{C9F47212-DE4B-4763-835A-CA95C59E311C}" dt="2021-10-20T18:07:35.650" v="1579" actId="108"/>
        <pc:sldMkLst>
          <pc:docMk/>
          <pc:sldMk cId="1379302974" sldId="261"/>
        </pc:sldMkLst>
        <pc:spChg chg="mod">
          <ac:chgData name="Lisa Bock" userId="1f2a7945151d6011" providerId="LiveId" clId="{C9F47212-DE4B-4763-835A-CA95C59E311C}" dt="2021-10-20T18:07:35.650" v="1579" actId="108"/>
          <ac:spMkLst>
            <pc:docMk/>
            <pc:sldMk cId="1379302974" sldId="261"/>
            <ac:spMk id="2" creationId="{00910985-B36C-4A8C-8F00-496036FF49CE}"/>
          </ac:spMkLst>
        </pc:spChg>
      </pc:sldChg>
      <pc:sldChg chg="modSp mod">
        <pc:chgData name="Lisa Bock" userId="1f2a7945151d6011" providerId="LiveId" clId="{C9F47212-DE4B-4763-835A-CA95C59E311C}" dt="2021-10-20T18:08:44.689" v="1583" actId="20577"/>
        <pc:sldMkLst>
          <pc:docMk/>
          <pc:sldMk cId="2996616140" sldId="267"/>
        </pc:sldMkLst>
        <pc:spChg chg="mod">
          <ac:chgData name="Lisa Bock" userId="1f2a7945151d6011" providerId="LiveId" clId="{C9F47212-DE4B-4763-835A-CA95C59E311C}" dt="2021-10-20T18:08:44.689" v="1583" actId="20577"/>
          <ac:spMkLst>
            <pc:docMk/>
            <pc:sldMk cId="2996616140" sldId="267"/>
            <ac:spMk id="3" creationId="{D265882B-10E2-446D-A76D-9CAE7BFA8BE6}"/>
          </ac:spMkLst>
        </pc:spChg>
      </pc:sldChg>
      <pc:sldChg chg="modSp mod modNotesTx">
        <pc:chgData name="Lisa Bock" userId="1f2a7945151d6011" providerId="LiveId" clId="{C9F47212-DE4B-4763-835A-CA95C59E311C}" dt="2021-10-20T17:48:08.504" v="1569"/>
        <pc:sldMkLst>
          <pc:docMk/>
          <pc:sldMk cId="344198462" sldId="272"/>
        </pc:sldMkLst>
        <pc:spChg chg="mod">
          <ac:chgData name="Lisa Bock" userId="1f2a7945151d6011" providerId="LiveId" clId="{C9F47212-DE4B-4763-835A-CA95C59E311C}" dt="2021-10-20T17:45:32.787" v="1566" actId="15"/>
          <ac:spMkLst>
            <pc:docMk/>
            <pc:sldMk cId="344198462" sldId="272"/>
            <ac:spMk id="3" creationId="{D265882B-10E2-446D-A76D-9CAE7BFA8BE6}"/>
          </ac:spMkLst>
        </pc:spChg>
      </pc:sldChg>
      <pc:sldChg chg="modSp mod modNotesTx">
        <pc:chgData name="Lisa Bock" userId="1f2a7945151d6011" providerId="LiveId" clId="{C9F47212-DE4B-4763-835A-CA95C59E311C}" dt="2021-10-20T17:50:29.259" v="1578" actId="6549"/>
        <pc:sldMkLst>
          <pc:docMk/>
          <pc:sldMk cId="1540747241" sldId="286"/>
        </pc:sldMkLst>
        <pc:spChg chg="mod">
          <ac:chgData name="Lisa Bock" userId="1f2a7945151d6011" providerId="LiveId" clId="{C9F47212-DE4B-4763-835A-CA95C59E311C}" dt="2021-10-20T15:29:47.463" v="120" actId="20577"/>
          <ac:spMkLst>
            <pc:docMk/>
            <pc:sldMk cId="1540747241" sldId="286"/>
            <ac:spMk id="3" creationId="{D265882B-10E2-446D-A76D-9CAE7BFA8BE6}"/>
          </ac:spMkLst>
        </pc:spChg>
      </pc:sldChg>
      <pc:sldChg chg="modSp mod">
        <pc:chgData name="Lisa Bock" userId="1f2a7945151d6011" providerId="LiveId" clId="{C9F47212-DE4B-4763-835A-CA95C59E311C}" dt="2021-10-20T18:09:53.971" v="1593" actId="20577"/>
        <pc:sldMkLst>
          <pc:docMk/>
          <pc:sldMk cId="269955550" sldId="287"/>
        </pc:sldMkLst>
        <pc:spChg chg="mod">
          <ac:chgData name="Lisa Bock" userId="1f2a7945151d6011" providerId="LiveId" clId="{C9F47212-DE4B-4763-835A-CA95C59E311C}" dt="2021-10-20T15:31:55.369" v="164" actId="20577"/>
          <ac:spMkLst>
            <pc:docMk/>
            <pc:sldMk cId="269955550" sldId="287"/>
            <ac:spMk id="2" creationId="{A92B708E-4083-4962-9240-C5792BEC3394}"/>
          </ac:spMkLst>
        </pc:spChg>
        <pc:spChg chg="mod">
          <ac:chgData name="Lisa Bock" userId="1f2a7945151d6011" providerId="LiveId" clId="{C9F47212-DE4B-4763-835A-CA95C59E311C}" dt="2021-10-20T18:09:53.971" v="1593" actId="20577"/>
          <ac:spMkLst>
            <pc:docMk/>
            <pc:sldMk cId="269955550" sldId="287"/>
            <ac:spMk id="3" creationId="{D265882B-10E2-446D-A76D-9CAE7BFA8BE6}"/>
          </ac:spMkLst>
        </pc:spChg>
      </pc:sldChg>
      <pc:sldChg chg="modSp mod">
        <pc:chgData name="Lisa Bock" userId="1f2a7945151d6011" providerId="LiveId" clId="{C9F47212-DE4B-4763-835A-CA95C59E311C}" dt="2021-10-20T18:12:10.176" v="1644" actId="20577"/>
        <pc:sldMkLst>
          <pc:docMk/>
          <pc:sldMk cId="3527022134" sldId="288"/>
        </pc:sldMkLst>
        <pc:spChg chg="mod">
          <ac:chgData name="Lisa Bock" userId="1f2a7945151d6011" providerId="LiveId" clId="{C9F47212-DE4B-4763-835A-CA95C59E311C}" dt="2021-10-20T15:37:34.463" v="253" actId="20577"/>
          <ac:spMkLst>
            <pc:docMk/>
            <pc:sldMk cId="3527022134" sldId="288"/>
            <ac:spMk id="2" creationId="{A92B708E-4083-4962-9240-C5792BEC3394}"/>
          </ac:spMkLst>
        </pc:spChg>
        <pc:spChg chg="mod">
          <ac:chgData name="Lisa Bock" userId="1f2a7945151d6011" providerId="LiveId" clId="{C9F47212-DE4B-4763-835A-CA95C59E311C}" dt="2021-10-20T18:12:10.176" v="1644" actId="20577"/>
          <ac:spMkLst>
            <pc:docMk/>
            <pc:sldMk cId="3527022134" sldId="288"/>
            <ac:spMk id="3" creationId="{D265882B-10E2-446D-A76D-9CAE7BFA8BE6}"/>
          </ac:spMkLst>
        </pc:spChg>
      </pc:sldChg>
      <pc:sldChg chg="modSp mod">
        <pc:chgData name="Lisa Bock" userId="1f2a7945151d6011" providerId="LiveId" clId="{C9F47212-DE4B-4763-835A-CA95C59E311C}" dt="2021-10-20T16:06:22.076" v="806" actId="20577"/>
        <pc:sldMkLst>
          <pc:docMk/>
          <pc:sldMk cId="3037773621" sldId="289"/>
        </pc:sldMkLst>
        <pc:spChg chg="mod">
          <ac:chgData name="Lisa Bock" userId="1f2a7945151d6011" providerId="LiveId" clId="{C9F47212-DE4B-4763-835A-CA95C59E311C}" dt="2021-10-20T16:06:22.076" v="806" actId="20577"/>
          <ac:spMkLst>
            <pc:docMk/>
            <pc:sldMk cId="3037773621" sldId="289"/>
            <ac:spMk id="2" creationId="{00910985-B36C-4A8C-8F00-496036FF49CE}"/>
          </ac:spMkLst>
        </pc:spChg>
      </pc:sldChg>
      <pc:sldChg chg="modSp mod">
        <pc:chgData name="Lisa Bock" userId="1f2a7945151d6011" providerId="LiveId" clId="{C9F47212-DE4B-4763-835A-CA95C59E311C}" dt="2021-10-20T17:15:21.744" v="1178"/>
        <pc:sldMkLst>
          <pc:docMk/>
          <pc:sldMk cId="2685729560" sldId="290"/>
        </pc:sldMkLst>
        <pc:spChg chg="mod">
          <ac:chgData name="Lisa Bock" userId="1f2a7945151d6011" providerId="LiveId" clId="{C9F47212-DE4B-4763-835A-CA95C59E311C}" dt="2021-10-20T17:15:21.744" v="1178"/>
          <ac:spMkLst>
            <pc:docMk/>
            <pc:sldMk cId="2685729560" sldId="290"/>
            <ac:spMk id="2" creationId="{897A5AF4-7AED-4A32-8826-AA455EAA7711}"/>
          </ac:spMkLst>
        </pc:spChg>
      </pc:sldChg>
      <pc:sldChg chg="modSp mod">
        <pc:chgData name="Lisa Bock" userId="1f2a7945151d6011" providerId="LiveId" clId="{C9F47212-DE4B-4763-835A-CA95C59E311C}" dt="2021-10-20T16:15:21.053" v="929" actId="20577"/>
        <pc:sldMkLst>
          <pc:docMk/>
          <pc:sldMk cId="3541867063" sldId="291"/>
        </pc:sldMkLst>
        <pc:spChg chg="mod">
          <ac:chgData name="Lisa Bock" userId="1f2a7945151d6011" providerId="LiveId" clId="{C9F47212-DE4B-4763-835A-CA95C59E311C}" dt="2021-10-20T16:06:57.165" v="825" actId="20577"/>
          <ac:spMkLst>
            <pc:docMk/>
            <pc:sldMk cId="3541867063" sldId="291"/>
            <ac:spMk id="2" creationId="{A92B708E-4083-4962-9240-C5792BEC3394}"/>
          </ac:spMkLst>
        </pc:spChg>
        <pc:spChg chg="mod">
          <ac:chgData name="Lisa Bock" userId="1f2a7945151d6011" providerId="LiveId" clId="{C9F47212-DE4B-4763-835A-CA95C59E311C}" dt="2021-10-20T16:15:21.053" v="929" actId="20577"/>
          <ac:spMkLst>
            <pc:docMk/>
            <pc:sldMk cId="3541867063" sldId="291"/>
            <ac:spMk id="3" creationId="{D265882B-10E2-446D-A76D-9CAE7BFA8BE6}"/>
          </ac:spMkLst>
        </pc:spChg>
      </pc:sldChg>
      <pc:sldChg chg="modSp mod modNotesTx">
        <pc:chgData name="Lisa Bock" userId="1f2a7945151d6011" providerId="LiveId" clId="{C9F47212-DE4B-4763-835A-CA95C59E311C}" dt="2021-10-20T17:15:44.524" v="1180" actId="313"/>
        <pc:sldMkLst>
          <pc:docMk/>
          <pc:sldMk cId="1586152731" sldId="292"/>
        </pc:sldMkLst>
        <pc:spChg chg="mod">
          <ac:chgData name="Lisa Bock" userId="1f2a7945151d6011" providerId="LiveId" clId="{C9F47212-DE4B-4763-835A-CA95C59E311C}" dt="2021-10-20T16:15:52.042" v="951" actId="20577"/>
          <ac:spMkLst>
            <pc:docMk/>
            <pc:sldMk cId="1586152731" sldId="292"/>
            <ac:spMk id="2" creationId="{A92B708E-4083-4962-9240-C5792BEC3394}"/>
          </ac:spMkLst>
        </pc:spChg>
        <pc:spChg chg="mod">
          <ac:chgData name="Lisa Bock" userId="1f2a7945151d6011" providerId="LiveId" clId="{C9F47212-DE4B-4763-835A-CA95C59E311C}" dt="2021-10-20T17:15:44.524" v="1180" actId="313"/>
          <ac:spMkLst>
            <pc:docMk/>
            <pc:sldMk cId="1586152731" sldId="292"/>
            <ac:spMk id="3" creationId="{D265882B-10E2-446D-A76D-9CAE7BFA8BE6}"/>
          </ac:spMkLst>
        </pc:spChg>
      </pc:sldChg>
      <pc:sldChg chg="modSp mod modNotesTx">
        <pc:chgData name="Lisa Bock" userId="1f2a7945151d6011" providerId="LiveId" clId="{C9F47212-DE4B-4763-835A-CA95C59E311C}" dt="2021-10-20T17:23:55.821" v="1288" actId="113"/>
        <pc:sldMkLst>
          <pc:docMk/>
          <pc:sldMk cId="2982755953" sldId="293"/>
        </pc:sldMkLst>
        <pc:spChg chg="mod">
          <ac:chgData name="Lisa Bock" userId="1f2a7945151d6011" providerId="LiveId" clId="{C9F47212-DE4B-4763-835A-CA95C59E311C}" dt="2021-10-20T16:26:20.506" v="1144" actId="20577"/>
          <ac:spMkLst>
            <pc:docMk/>
            <pc:sldMk cId="2982755953" sldId="293"/>
            <ac:spMk id="2" creationId="{A92B708E-4083-4962-9240-C5792BEC3394}"/>
          </ac:spMkLst>
        </pc:spChg>
        <pc:spChg chg="mod">
          <ac:chgData name="Lisa Bock" userId="1f2a7945151d6011" providerId="LiveId" clId="{C9F47212-DE4B-4763-835A-CA95C59E311C}" dt="2021-10-20T17:23:55.821" v="1288" actId="113"/>
          <ac:spMkLst>
            <pc:docMk/>
            <pc:sldMk cId="2982755953" sldId="293"/>
            <ac:spMk id="3" creationId="{D265882B-10E2-446D-A76D-9CAE7BFA8BE6}"/>
          </ac:spMkLst>
        </pc:spChg>
      </pc:sldChg>
      <pc:sldChg chg="modSp mod">
        <pc:chgData name="Lisa Bock" userId="1f2a7945151d6011" providerId="LiveId" clId="{C9F47212-DE4B-4763-835A-CA95C59E311C}" dt="2021-10-20T17:34:54.548" v="1515" actId="20577"/>
        <pc:sldMkLst>
          <pc:docMk/>
          <pc:sldMk cId="2553022141" sldId="294"/>
        </pc:sldMkLst>
        <pc:spChg chg="mod">
          <ac:chgData name="Lisa Bock" userId="1f2a7945151d6011" providerId="LiveId" clId="{C9F47212-DE4B-4763-835A-CA95C59E311C}" dt="2021-10-20T17:34:54.548" v="1515" actId="20577"/>
          <ac:spMkLst>
            <pc:docMk/>
            <pc:sldMk cId="2553022141" sldId="294"/>
            <ac:spMk id="2" creationId="{00910985-B36C-4A8C-8F00-496036FF49CE}"/>
          </ac:spMkLst>
        </pc:spChg>
        <pc:spChg chg="mod">
          <ac:chgData name="Lisa Bock" userId="1f2a7945151d6011" providerId="LiveId" clId="{C9F47212-DE4B-4763-835A-CA95C59E311C}" dt="2021-10-20T17:15:30.444" v="1179"/>
          <ac:spMkLst>
            <pc:docMk/>
            <pc:sldMk cId="2553022141" sldId="294"/>
            <ac:spMk id="3" creationId="{741BF6B6-2A64-4049-9A00-5F58CF8B2C57}"/>
          </ac:spMkLst>
        </pc:spChg>
      </pc:sldChg>
      <pc:sldChg chg="modNotesTx">
        <pc:chgData name="Lisa Bock" userId="1f2a7945151d6011" providerId="LiveId" clId="{C9F47212-DE4B-4763-835A-CA95C59E311C}" dt="2021-10-20T17:37:45.240" v="1516"/>
        <pc:sldMkLst>
          <pc:docMk/>
          <pc:sldMk cId="57244546" sldId="296"/>
        </pc:sldMkLst>
      </pc:sldChg>
      <pc:sldChg chg="modNotesTx">
        <pc:chgData name="Lisa Bock" userId="1f2a7945151d6011" providerId="LiveId" clId="{C9F47212-DE4B-4763-835A-CA95C59E311C}" dt="2021-10-20T17:38:35.044" v="1518" actId="20577"/>
        <pc:sldMkLst>
          <pc:docMk/>
          <pc:sldMk cId="2258199341" sldId="298"/>
        </pc:sldMkLst>
      </pc:sldChg>
      <pc:sldChg chg="modSp mod">
        <pc:chgData name="Lisa Bock" userId="1f2a7945151d6011" providerId="LiveId" clId="{C9F47212-DE4B-4763-835A-CA95C59E311C}" dt="2021-10-20T15:52:54.733" v="533" actId="20577"/>
        <pc:sldMkLst>
          <pc:docMk/>
          <pc:sldMk cId="3058932547" sldId="310"/>
        </pc:sldMkLst>
        <pc:spChg chg="mod">
          <ac:chgData name="Lisa Bock" userId="1f2a7945151d6011" providerId="LiveId" clId="{C9F47212-DE4B-4763-835A-CA95C59E311C}" dt="2021-10-20T15:48:38.713" v="432"/>
          <ac:spMkLst>
            <pc:docMk/>
            <pc:sldMk cId="3058932547" sldId="310"/>
            <ac:spMk id="2" creationId="{A92B708E-4083-4962-9240-C5792BEC3394}"/>
          </ac:spMkLst>
        </pc:spChg>
        <pc:spChg chg="mod">
          <ac:chgData name="Lisa Bock" userId="1f2a7945151d6011" providerId="LiveId" clId="{C9F47212-DE4B-4763-835A-CA95C59E311C}" dt="2021-10-20T15:52:54.733" v="533" actId="20577"/>
          <ac:spMkLst>
            <pc:docMk/>
            <pc:sldMk cId="3058932547" sldId="310"/>
            <ac:spMk id="3" creationId="{D265882B-10E2-446D-A76D-9CAE7BFA8BE6}"/>
          </ac:spMkLst>
        </pc:spChg>
      </pc:sldChg>
      <pc:sldChg chg="modSp mod">
        <pc:chgData name="Lisa Bock" userId="1f2a7945151d6011" providerId="LiveId" clId="{C9F47212-DE4B-4763-835A-CA95C59E311C}" dt="2021-10-20T16:01:39.199" v="683" actId="6549"/>
        <pc:sldMkLst>
          <pc:docMk/>
          <pc:sldMk cId="3242571298" sldId="311"/>
        </pc:sldMkLst>
        <pc:spChg chg="mod">
          <ac:chgData name="Lisa Bock" userId="1f2a7945151d6011" providerId="LiveId" clId="{C9F47212-DE4B-4763-835A-CA95C59E311C}" dt="2021-10-20T15:53:09.366" v="536"/>
          <ac:spMkLst>
            <pc:docMk/>
            <pc:sldMk cId="3242571298" sldId="311"/>
            <ac:spMk id="2" creationId="{A92B708E-4083-4962-9240-C5792BEC3394}"/>
          </ac:spMkLst>
        </pc:spChg>
        <pc:spChg chg="mod">
          <ac:chgData name="Lisa Bock" userId="1f2a7945151d6011" providerId="LiveId" clId="{C9F47212-DE4B-4763-835A-CA95C59E311C}" dt="2021-10-20T16:01:39.199" v="683" actId="6549"/>
          <ac:spMkLst>
            <pc:docMk/>
            <pc:sldMk cId="3242571298" sldId="311"/>
            <ac:spMk id="3" creationId="{D265882B-10E2-446D-A76D-9CAE7BFA8BE6}"/>
          </ac:spMkLst>
        </pc:spChg>
      </pc:sldChg>
      <pc:sldChg chg="del">
        <pc:chgData name="Lisa Bock" userId="1f2a7945151d6011" providerId="LiveId" clId="{C9F47212-DE4B-4763-835A-CA95C59E311C}" dt="2021-10-20T15:46:47.436" v="407" actId="47"/>
        <pc:sldMkLst>
          <pc:docMk/>
          <pc:sldMk cId="1957694289" sldId="312"/>
        </pc:sldMkLst>
      </pc:sldChg>
      <pc:sldChg chg="del">
        <pc:chgData name="Lisa Bock" userId="1f2a7945151d6011" providerId="LiveId" clId="{C9F47212-DE4B-4763-835A-CA95C59E311C}" dt="2021-10-20T15:46:47.436" v="407" actId="47"/>
        <pc:sldMkLst>
          <pc:docMk/>
          <pc:sldMk cId="916752872" sldId="313"/>
        </pc:sldMkLst>
      </pc:sldChg>
      <pc:sldChg chg="del">
        <pc:chgData name="Lisa Bock" userId="1f2a7945151d6011" providerId="LiveId" clId="{C9F47212-DE4B-4763-835A-CA95C59E311C}" dt="2021-10-20T17:18:11.320" v="1221" actId="2696"/>
        <pc:sldMkLst>
          <pc:docMk/>
          <pc:sldMk cId="2089018542" sldId="314"/>
        </pc:sldMkLst>
      </pc:sldChg>
      <pc:sldChg chg="modSp mod">
        <pc:chgData name="Lisa Bock" userId="1f2a7945151d6011" providerId="LiveId" clId="{C9F47212-DE4B-4763-835A-CA95C59E311C}" dt="2021-10-20T17:28:10.804" v="1420" actId="20577"/>
        <pc:sldMkLst>
          <pc:docMk/>
          <pc:sldMk cId="2862897537" sldId="315"/>
        </pc:sldMkLst>
        <pc:spChg chg="mod">
          <ac:chgData name="Lisa Bock" userId="1f2a7945151d6011" providerId="LiveId" clId="{C9F47212-DE4B-4763-835A-CA95C59E311C}" dt="2021-10-20T17:14:38.204" v="1175" actId="20577"/>
          <ac:spMkLst>
            <pc:docMk/>
            <pc:sldMk cId="2862897537" sldId="315"/>
            <ac:spMk id="2" creationId="{A92B708E-4083-4962-9240-C5792BEC3394}"/>
          </ac:spMkLst>
        </pc:spChg>
        <pc:spChg chg="mod">
          <ac:chgData name="Lisa Bock" userId="1f2a7945151d6011" providerId="LiveId" clId="{C9F47212-DE4B-4763-835A-CA95C59E311C}" dt="2021-10-20T17:28:10.804" v="1420" actId="20577"/>
          <ac:spMkLst>
            <pc:docMk/>
            <pc:sldMk cId="2862897537" sldId="315"/>
            <ac:spMk id="3" creationId="{D265882B-10E2-446D-A76D-9CAE7BFA8BE6}"/>
          </ac:spMkLst>
        </pc:spChg>
      </pc:sldChg>
      <pc:sldChg chg="del">
        <pc:chgData name="Lisa Bock" userId="1f2a7945151d6011" providerId="LiveId" clId="{C9F47212-DE4B-4763-835A-CA95C59E311C}" dt="2021-10-20T17:28:15.491" v="1421" actId="47"/>
        <pc:sldMkLst>
          <pc:docMk/>
          <pc:sldMk cId="3553342517" sldId="316"/>
        </pc:sldMkLst>
      </pc:sldChg>
      <pc:sldChg chg="del">
        <pc:chgData name="Lisa Bock" userId="1f2a7945151d6011" providerId="LiveId" clId="{C9F47212-DE4B-4763-835A-CA95C59E311C}" dt="2021-10-20T17:14:55.143" v="1176" actId="2696"/>
        <pc:sldMkLst>
          <pc:docMk/>
          <pc:sldMk cId="2197561656" sldId="317"/>
        </pc:sldMkLst>
      </pc:sldChg>
      <pc:sldChg chg="modSp mod">
        <pc:chgData name="Lisa Bock" userId="1f2a7945151d6011" providerId="LiveId" clId="{C9F47212-DE4B-4763-835A-CA95C59E311C}" dt="2021-10-20T17:42:47.628" v="1558" actId="20577"/>
        <pc:sldMkLst>
          <pc:docMk/>
          <pc:sldMk cId="1176295925" sldId="319"/>
        </pc:sldMkLst>
        <pc:spChg chg="mod">
          <ac:chgData name="Lisa Bock" userId="1f2a7945151d6011" providerId="LiveId" clId="{C9F47212-DE4B-4763-835A-CA95C59E311C}" dt="2021-10-20T17:42:47.628" v="1558" actId="20577"/>
          <ac:spMkLst>
            <pc:docMk/>
            <pc:sldMk cId="1176295925" sldId="319"/>
            <ac:spMk id="3" creationId="{613B8198-A838-4CBB-8C42-873E04017998}"/>
          </ac:spMkLst>
        </pc:spChg>
      </pc:sldChg>
    </pc:docChg>
  </pc:docChgLst>
  <pc:docChgLst>
    <pc:chgData name="Danielle Andries" userId="93d179e4-3c18-40f7-920e-ae80b202540d" providerId="ADAL" clId="{B9D49CFF-2CA3-4F87-BE54-39FF77BBB73E}"/>
    <pc:docChg chg="delSld modSld">
      <pc:chgData name="Danielle Andries" userId="93d179e4-3c18-40f7-920e-ae80b202540d" providerId="ADAL" clId="{B9D49CFF-2CA3-4F87-BE54-39FF77BBB73E}" dt="2022-10-19T21:43:55.692" v="31" actId="20577"/>
      <pc:docMkLst>
        <pc:docMk/>
      </pc:docMkLst>
      <pc:sldChg chg="del">
        <pc:chgData name="Danielle Andries" userId="93d179e4-3c18-40f7-920e-ae80b202540d" providerId="ADAL" clId="{B9D49CFF-2CA3-4F87-BE54-39FF77BBB73E}" dt="2022-10-19T21:43:41.417" v="0" actId="47"/>
        <pc:sldMkLst>
          <pc:docMk/>
          <pc:sldMk cId="2458990325" sldId="283"/>
        </pc:sldMkLst>
      </pc:sldChg>
      <pc:sldChg chg="modSp mod">
        <pc:chgData name="Danielle Andries" userId="93d179e4-3c18-40f7-920e-ae80b202540d" providerId="ADAL" clId="{B9D49CFF-2CA3-4F87-BE54-39FF77BBB73E}" dt="2022-10-19T21:43:55.692" v="31" actId="20577"/>
        <pc:sldMkLst>
          <pc:docMk/>
          <pc:sldMk cId="3073644457" sldId="284"/>
        </pc:sldMkLst>
        <pc:spChg chg="mod">
          <ac:chgData name="Danielle Andries" userId="93d179e4-3c18-40f7-920e-ae80b202540d" providerId="ADAL" clId="{B9D49CFF-2CA3-4F87-BE54-39FF77BBB73E}" dt="2022-10-19T21:43:55.692" v="31" actId="20577"/>
          <ac:spMkLst>
            <pc:docMk/>
            <pc:sldMk cId="3073644457" sldId="284"/>
            <ac:spMk id="3" creationId="{568708AE-48ED-4852-AE39-86C44E3C3102}"/>
          </ac:spMkLst>
        </pc:spChg>
      </pc:sldChg>
    </pc:docChg>
  </pc:docChgLst>
  <pc:docChgLst>
    <pc:chgData name="Danielle Andries" userId="93d179e4-3c18-40f7-920e-ae80b202540d" providerId="ADAL" clId="{9355458B-FCC4-44A6-B2E3-3EA04CC5708D}"/>
    <pc:docChg chg="modSld">
      <pc:chgData name="Danielle Andries" userId="93d179e4-3c18-40f7-920e-ae80b202540d" providerId="ADAL" clId="{9355458B-FCC4-44A6-B2E3-3EA04CC5708D}" dt="2021-10-20T18:41:03.957" v="48" actId="20577"/>
      <pc:docMkLst>
        <pc:docMk/>
      </pc:docMkLst>
      <pc:sldChg chg="modNotesTx">
        <pc:chgData name="Danielle Andries" userId="93d179e4-3c18-40f7-920e-ae80b202540d" providerId="ADAL" clId="{9355458B-FCC4-44A6-B2E3-3EA04CC5708D}" dt="2021-10-20T18:40:13.565" v="21" actId="20577"/>
        <pc:sldMkLst>
          <pc:docMk/>
          <pc:sldMk cId="2996616140" sldId="267"/>
        </pc:sldMkLst>
      </pc:sldChg>
      <pc:sldChg chg="modNotesTx">
        <pc:chgData name="Danielle Andries" userId="93d179e4-3c18-40f7-920e-ae80b202540d" providerId="ADAL" clId="{9355458B-FCC4-44A6-B2E3-3EA04CC5708D}" dt="2021-10-20T18:40:43.237" v="39" actId="20577"/>
        <pc:sldMkLst>
          <pc:docMk/>
          <pc:sldMk cId="344198462" sldId="272"/>
        </pc:sldMkLst>
      </pc:sldChg>
      <pc:sldChg chg="modNotesTx">
        <pc:chgData name="Danielle Andries" userId="93d179e4-3c18-40f7-920e-ae80b202540d" providerId="ADAL" clId="{9355458B-FCC4-44A6-B2E3-3EA04CC5708D}" dt="2021-10-20T18:41:03.957" v="48" actId="20577"/>
        <pc:sldMkLst>
          <pc:docMk/>
          <pc:sldMk cId="2982755953" sldId="293"/>
        </pc:sldMkLst>
      </pc:sldChg>
      <pc:sldChg chg="modNotesTx">
        <pc:chgData name="Danielle Andries" userId="93d179e4-3c18-40f7-920e-ae80b202540d" providerId="ADAL" clId="{9355458B-FCC4-44A6-B2E3-3EA04CC5708D}" dt="2021-10-20T18:39:54.269" v="6" actId="20577"/>
        <pc:sldMkLst>
          <pc:docMk/>
          <pc:sldMk cId="57244546" sldId="296"/>
        </pc:sldMkLst>
      </pc:sldChg>
      <pc:sldChg chg="modNotesTx">
        <pc:chgData name="Danielle Andries" userId="93d179e4-3c18-40f7-920e-ae80b202540d" providerId="ADAL" clId="{9355458B-FCC4-44A6-B2E3-3EA04CC5708D}" dt="2021-10-20T18:40:01.085" v="13" actId="20577"/>
        <pc:sldMkLst>
          <pc:docMk/>
          <pc:sldMk cId="2258199341" sldId="298"/>
        </pc:sldMkLst>
      </pc:sldChg>
      <pc:sldChg chg="modNotesTx">
        <pc:chgData name="Danielle Andries" userId="93d179e4-3c18-40f7-920e-ae80b202540d" providerId="ADAL" clId="{9355458B-FCC4-44A6-B2E3-3EA04CC5708D}" dt="2021-10-20T18:40:23.854" v="24" actId="20577"/>
        <pc:sldMkLst>
          <pc:docMk/>
          <pc:sldMk cId="1929722126" sldId="300"/>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i="1" dirty="0"/>
              <a:t>Enumeration is cataloging objects on the network to provide a more targeted list for further exploitation.</a:t>
            </a:r>
          </a:p>
          <a:p>
            <a:r>
              <a:rPr lang="en-US" i="1" dirty="0"/>
              <a:t>While some enumeration can be done without a credential, the exercise is generally more successful if you can log into the system. </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215603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i="1" dirty="0"/>
              <a:t>Services can include backup software, network monitoring applications, certification testing systems, enterprise malware managers, conferencing systems, project management tools, and drawing and coding applications.</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393606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ShareEnum is most effective when you run it from a domain administrator account.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2654128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3753179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Search for ways the command net view can be used to view network shares.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636204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Search some of the enum options, such as enum_configs and enum_protections, and share their findings.</a:t>
            </a:r>
          </a:p>
          <a:p>
            <a:r>
              <a:rPr lang="en-US" b="0" i="1" dirty="0">
                <a:solidFill>
                  <a:srgbClr val="45545F"/>
                </a:solidFill>
                <a:effectLst/>
                <a:latin typeface="Open Sans" panose="020B0606030504020204" pitchFamily="34" charset="0"/>
              </a:rPr>
              <a:t>Some commands require root privilege.</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3727469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In some cases, VLAN membership for a device is dynamically determined by its MAC address. The network administrator pre-creates a list of VLANs and the MAC addresses that belong to them. When the device is plugged in, its MAC address is checked against the database, and the corresponding VLAN ID is dynamically assigned to that port.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117449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Conduct a search for Firesheep and share their findings.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1773458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Responder can also be used in analysis mode to monitor name resolution traffic without responding. This can help an attacker map out names used on the network and select a target.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472033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Brainstorm some examples of exploit chaining.</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1376715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Conduct a search on "Cobalt Strike" and share their findings.</a:t>
            </a:r>
          </a:p>
          <a:p>
            <a:r>
              <a:rPr lang="en-US" b="0" i="1" dirty="0">
                <a:solidFill>
                  <a:srgbClr val="45545F"/>
                </a:solidFill>
                <a:effectLst/>
                <a:latin typeface="Open Sans" panose="020B0606030504020204" pitchFamily="34" charset="0"/>
              </a:rPr>
              <a:t>Search for Echo/Chargen UDP Packet Storm denial of service, and share their findings.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625361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0" i="1" dirty="0">
                <a:solidFill>
                  <a:srgbClr val="45545F"/>
                </a:solidFill>
                <a:effectLst/>
                <a:latin typeface="Open Sans" panose="020B0606030504020204" pitchFamily="34" charset="0"/>
              </a:rPr>
              <a:t>NOTE: </a:t>
            </a:r>
            <a:r>
              <a:rPr lang="en-US" i="1" dirty="0"/>
              <a:t>Managing vulnerabilities in a hosted public cloud is more complex as you are likely to be dependent on the service provider.</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138599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A dormant VM is one that is created and configured for a particular purpose and then shut down or even left running without being properly decommissioned.</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1530004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To search Metasploit for local exploits that escalate privilege at the msf console, enter the following: </a:t>
            </a:r>
            <a:r>
              <a:rPr lang="en-US" b="0" i="1" dirty="0">
                <a:solidFill>
                  <a:srgbClr val="757575"/>
                </a:solidFill>
                <a:effectLst/>
                <a:latin typeface="Cutive Mono"/>
              </a:rPr>
              <a:t>search exploit/windows/local -S Escalation</a:t>
            </a:r>
            <a:r>
              <a:rPr lang="en-US" b="0" i="1" dirty="0">
                <a:solidFill>
                  <a:srgbClr val="45545F"/>
                </a:solidFill>
                <a:effectLst/>
                <a:latin typeface="Open Sans" panose="020B0606030504020204" pitchFamily="34" charset="0"/>
              </a:rPr>
              <a: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408369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Research "Saddam - DDoS Amplification Tool" and share their findings.</a:t>
            </a:r>
          </a:p>
          <a:p>
            <a:r>
              <a:rPr lang="en-US" b="0" i="1" dirty="0">
                <a:solidFill>
                  <a:srgbClr val="45545F"/>
                </a:solidFill>
                <a:effectLst/>
                <a:latin typeface="Open Sans" panose="020B0606030504020204" pitchFamily="34" charset="0"/>
              </a:rPr>
              <a:t>You can search for Metasploit DoS modules at the msf console. For example, to search for DoS attacks that involve DNS, enter </a:t>
            </a:r>
            <a:r>
              <a:rPr lang="en-US" b="0" i="1" dirty="0">
                <a:solidFill>
                  <a:srgbClr val="757575"/>
                </a:solidFill>
                <a:effectLst/>
                <a:latin typeface="Cutive Mono"/>
              </a:rPr>
              <a:t>search dns dos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3658130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PT0-002</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CompTIA </a:t>
            </a:r>
            <a:r>
              <a:rPr lang="en-US" dirty="0" err="1"/>
              <a:t>PenTest</a:t>
            </a:r>
            <a:r>
              <a:rPr lang="en-US" dirty="0"/>
              <a:t>+</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7" name="Graphic 16">
            <a:extLst>
              <a:ext uri="{FF2B5EF4-FFF2-40B4-BE49-F238E27FC236}">
                <a16:creationId xmlns:a16="http://schemas.microsoft.com/office/drawing/2014/main" id="{7D84293D-9EA8-40F2-93FB-ED6D63C3A85B}"/>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2120" y="2131276"/>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9" name="Graphic 18">
            <a:extLst>
              <a:ext uri="{FF2B5EF4-FFF2-40B4-BE49-F238E27FC236}">
                <a16:creationId xmlns:a16="http://schemas.microsoft.com/office/drawing/2014/main" id="{ADBC3B40-8D17-4058-A330-EB58C13D6CD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20" name="Graphic 19">
            <a:extLst>
              <a:ext uri="{FF2B5EF4-FFF2-40B4-BE49-F238E27FC236}">
                <a16:creationId xmlns:a16="http://schemas.microsoft.com/office/drawing/2014/main" id="{0C10025E-BF6D-4382-802A-4903B84203D5}"/>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397774" y="1311388"/>
            <a:ext cx="2508635" cy="625047"/>
          </a:xfrm>
          <a:prstGeom prst="rect">
            <a:avLst/>
          </a:prstGeom>
        </p:spPr>
      </p:pic>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2" name="Graphic 11">
            <a:extLst>
              <a:ext uri="{FF2B5EF4-FFF2-40B4-BE49-F238E27FC236}">
                <a16:creationId xmlns:a16="http://schemas.microsoft.com/office/drawing/2014/main" id="{6DCE80E9-7F35-4B60-9186-5838CCF74D37}"/>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43351" y="418781"/>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err="1"/>
              <a:t>PenTest</a:t>
            </a:r>
            <a:r>
              <a:rPr lang="en-US" dirty="0"/>
              <a:t>+ PT0-002</a:t>
            </a:r>
            <a:endParaRPr lang="en-GB" dirty="0"/>
          </a:p>
        </p:txBody>
      </p:sp>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6" name="Graphic 15">
            <a:extLst>
              <a:ext uri="{FF2B5EF4-FFF2-40B4-BE49-F238E27FC236}">
                <a16:creationId xmlns:a16="http://schemas.microsoft.com/office/drawing/2014/main" id="{4F6561AF-3711-4D10-83B7-F654C4C4802B}"/>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9" name="Graphic 18">
            <a:extLst>
              <a:ext uri="{FF2B5EF4-FFF2-40B4-BE49-F238E27FC236}">
                <a16:creationId xmlns:a16="http://schemas.microsoft.com/office/drawing/2014/main" id="{C2DA8F62-B736-4E19-826C-4C8C382FE83B}"/>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397774" y="1311388"/>
            <a:ext cx="2508635" cy="625047"/>
          </a:xfrm>
          <a:prstGeom prst="rect">
            <a:avLst/>
          </a:prstGeom>
        </p:spPr>
      </p:pic>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9FB4-7244-4484-B018-DD33DB9A52A5}"/>
              </a:ext>
            </a:extLst>
          </p:cNvPr>
          <p:cNvSpPr>
            <a:spLocks noGrp="1"/>
          </p:cNvSpPr>
          <p:nvPr>
            <p:ph type="ctrTitle"/>
          </p:nvPr>
        </p:nvSpPr>
        <p:spPr/>
        <p:txBody>
          <a:bodyPr/>
          <a:lstStyle/>
          <a:p>
            <a:r>
              <a:rPr lang="en-US" dirty="0"/>
              <a:t>Exam PT0-002</a:t>
            </a:r>
          </a:p>
        </p:txBody>
      </p:sp>
      <p:sp>
        <p:nvSpPr>
          <p:cNvPr id="3" name="Subtitle 2">
            <a:extLst>
              <a:ext uri="{FF2B5EF4-FFF2-40B4-BE49-F238E27FC236}">
                <a16:creationId xmlns:a16="http://schemas.microsoft.com/office/drawing/2014/main" id="{0120E2C8-88F7-4382-A812-F719CC64D304}"/>
              </a:ext>
            </a:extLst>
          </p:cNvPr>
          <p:cNvSpPr>
            <a:spLocks noGrp="1"/>
          </p:cNvSpPr>
          <p:nvPr>
            <p:ph type="subTitle" idx="1"/>
          </p:nvPr>
        </p:nvSpPr>
        <p:spPr/>
        <p:txBody>
          <a:bodyPr/>
          <a:lstStyle/>
          <a:p>
            <a:r>
              <a:rPr lang="en-US" dirty="0"/>
              <a:t>CompTIA </a:t>
            </a:r>
            <a:r>
              <a:rPr lang="en-US" dirty="0" err="1"/>
              <a:t>PenTest</a:t>
            </a:r>
            <a:r>
              <a:rPr lang="en-US" dirty="0"/>
              <a:t>+</a:t>
            </a:r>
          </a:p>
        </p:txBody>
      </p:sp>
      <p:sp>
        <p:nvSpPr>
          <p:cNvPr id="4" name="Slide Number Placeholder 3">
            <a:extLst>
              <a:ext uri="{FF2B5EF4-FFF2-40B4-BE49-F238E27FC236}">
                <a16:creationId xmlns:a16="http://schemas.microsoft.com/office/drawing/2014/main" id="{0662A346-0A2D-4C5C-A981-A185650AD0E2}"/>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63253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087C-759A-4744-8CA2-B6FC76A04C6B}"/>
              </a:ext>
            </a:extLst>
          </p:cNvPr>
          <p:cNvSpPr>
            <a:spLocks noGrp="1"/>
          </p:cNvSpPr>
          <p:nvPr>
            <p:ph type="ctrTitle"/>
          </p:nvPr>
        </p:nvSpPr>
        <p:spPr/>
        <p:txBody>
          <a:bodyPr/>
          <a:lstStyle/>
          <a:p>
            <a:r>
              <a:rPr lang="en-US" dirty="0"/>
              <a:t>Exploiting the LAN and Cloud</a:t>
            </a:r>
          </a:p>
        </p:txBody>
      </p:sp>
      <p:sp>
        <p:nvSpPr>
          <p:cNvPr id="3" name="Subtitle 2">
            <a:extLst>
              <a:ext uri="{FF2B5EF4-FFF2-40B4-BE49-F238E27FC236}">
                <a16:creationId xmlns:a16="http://schemas.microsoft.com/office/drawing/2014/main" id="{8E3CCB41-16A4-4F8D-ABB5-5CE3E3695174}"/>
              </a:ext>
            </a:extLst>
          </p:cNvPr>
          <p:cNvSpPr>
            <a:spLocks noGrp="1"/>
          </p:cNvSpPr>
          <p:nvPr>
            <p:ph type="subTitle" idx="1"/>
          </p:nvPr>
        </p:nvSpPr>
        <p:spPr/>
        <p:txBody>
          <a:bodyPr/>
          <a:lstStyle/>
          <a:p>
            <a:r>
              <a:rPr lang="en-US" dirty="0"/>
              <a:t>Lesson 9</a:t>
            </a:r>
          </a:p>
        </p:txBody>
      </p:sp>
      <p:sp>
        <p:nvSpPr>
          <p:cNvPr id="4" name="Text Placeholder 3">
            <a:extLst>
              <a:ext uri="{FF2B5EF4-FFF2-40B4-BE49-F238E27FC236}">
                <a16:creationId xmlns:a16="http://schemas.microsoft.com/office/drawing/2014/main" id="{FFFA2055-7F4C-49B3-90A3-30BC6D855737}"/>
              </a:ext>
            </a:extLst>
          </p:cNvPr>
          <p:cNvSpPr>
            <a:spLocks noGrp="1"/>
          </p:cNvSpPr>
          <p:nvPr>
            <p:ph type="body" sz="quarter" idx="12"/>
          </p:nvPr>
        </p:nvSpPr>
        <p:spPr/>
        <p:txBody>
          <a:bodyPr/>
          <a:lstStyle/>
          <a:p>
            <a:r>
              <a:rPr lang="en-US" dirty="0"/>
              <a:t>CompTIA </a:t>
            </a:r>
            <a:r>
              <a:rPr lang="en-US" dirty="0" err="1"/>
              <a:t>PenTest</a:t>
            </a:r>
            <a:r>
              <a:rPr lang="en-US" dirty="0"/>
              <a:t>+ Exam PT0-002</a:t>
            </a:r>
          </a:p>
        </p:txBody>
      </p:sp>
      <p:sp>
        <p:nvSpPr>
          <p:cNvPr id="5" name="Slide Number Placeholder 4">
            <a:extLst>
              <a:ext uri="{FF2B5EF4-FFF2-40B4-BE49-F238E27FC236}">
                <a16:creationId xmlns:a16="http://schemas.microsoft.com/office/drawing/2014/main" id="{24A2E7BE-3CF5-43B5-A07D-D2F63BA0A4CD}"/>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3476460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2032A-10FC-4BB7-B136-BD4193536FE4}"/>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7ED73DC9-4D7D-4A76-A939-CFBD8317E387}"/>
              </a:ext>
            </a:extLst>
          </p:cNvPr>
          <p:cNvSpPr>
            <a:spLocks noGrp="1"/>
          </p:cNvSpPr>
          <p:nvPr>
            <p:ph idx="1"/>
          </p:nvPr>
        </p:nvSpPr>
        <p:spPr/>
        <p:txBody>
          <a:bodyPr>
            <a:normAutofit/>
          </a:bodyPr>
          <a:lstStyle/>
          <a:p>
            <a:r>
              <a:rPr lang="en-US" dirty="0"/>
              <a:t>Given a scenario, perform active reconnaissance.</a:t>
            </a:r>
          </a:p>
          <a:p>
            <a:r>
              <a:rPr lang="en-US" dirty="0"/>
              <a:t>Given a scenario, perform post-exploitation techniques.</a:t>
            </a:r>
          </a:p>
          <a:p>
            <a:r>
              <a:rPr lang="en-US" dirty="0"/>
              <a:t>Given a scenario, research attack vectors and perform network attacks.</a:t>
            </a:r>
          </a:p>
          <a:p>
            <a:r>
              <a:rPr lang="en-US" dirty="0"/>
              <a:t>Explain use cases of the following tools during the phases of a penetration test.</a:t>
            </a:r>
          </a:p>
        </p:txBody>
      </p:sp>
      <p:sp>
        <p:nvSpPr>
          <p:cNvPr id="4" name="Slide Number Placeholder 3">
            <a:extLst>
              <a:ext uri="{FF2B5EF4-FFF2-40B4-BE49-F238E27FC236}">
                <a16:creationId xmlns:a16="http://schemas.microsoft.com/office/drawing/2014/main" id="{F3D724FD-097F-41F1-84E9-7E3A49F253D2}"/>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676537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EEB6-1AEE-41DF-9C4C-570C8610147C}"/>
              </a:ext>
            </a:extLst>
          </p:cNvPr>
          <p:cNvSpPr>
            <a:spLocks noGrp="1"/>
          </p:cNvSpPr>
          <p:nvPr>
            <p:ph type="ctrTitle"/>
          </p:nvPr>
        </p:nvSpPr>
        <p:spPr/>
        <p:txBody>
          <a:bodyPr/>
          <a:lstStyle/>
          <a:p>
            <a:r>
              <a:rPr lang="en-US" dirty="0"/>
              <a:t>Enumerating Hosts</a:t>
            </a:r>
          </a:p>
        </p:txBody>
      </p:sp>
      <p:sp>
        <p:nvSpPr>
          <p:cNvPr id="3" name="Subtitle 2">
            <a:extLst>
              <a:ext uri="{FF2B5EF4-FFF2-40B4-BE49-F238E27FC236}">
                <a16:creationId xmlns:a16="http://schemas.microsoft.com/office/drawing/2014/main" id="{4987CBD2-FC2F-43E3-BBCF-3F07A0EC94E2}"/>
              </a:ext>
            </a:extLst>
          </p:cNvPr>
          <p:cNvSpPr>
            <a:spLocks noGrp="1"/>
          </p:cNvSpPr>
          <p:nvPr>
            <p:ph type="subTitle" idx="1"/>
          </p:nvPr>
        </p:nvSpPr>
        <p:spPr/>
        <p:txBody>
          <a:bodyPr/>
          <a:lstStyle/>
          <a:p>
            <a:r>
              <a:rPr lang="en-US" dirty="0"/>
              <a:t>Topic 9A</a:t>
            </a:r>
          </a:p>
        </p:txBody>
      </p:sp>
      <p:sp>
        <p:nvSpPr>
          <p:cNvPr id="4" name="Text Placeholder 3">
            <a:extLst>
              <a:ext uri="{FF2B5EF4-FFF2-40B4-BE49-F238E27FC236}">
                <a16:creationId xmlns:a16="http://schemas.microsoft.com/office/drawing/2014/main" id="{8C758618-B692-44C1-92DC-F8A5F871B945}"/>
              </a:ext>
            </a:extLst>
          </p:cNvPr>
          <p:cNvSpPr>
            <a:spLocks noGrp="1"/>
          </p:cNvSpPr>
          <p:nvPr>
            <p:ph type="body" sz="quarter" idx="12"/>
          </p:nvPr>
        </p:nvSpPr>
        <p:spPr/>
        <p:txBody>
          <a:bodyPr/>
          <a:lstStyle/>
          <a:p>
            <a:r>
              <a:rPr lang="en-US" dirty="0"/>
              <a:t>Lesson 9</a:t>
            </a:r>
          </a:p>
        </p:txBody>
      </p:sp>
      <p:sp>
        <p:nvSpPr>
          <p:cNvPr id="5" name="Slide Number Placeholder 4">
            <a:extLst>
              <a:ext uri="{FF2B5EF4-FFF2-40B4-BE49-F238E27FC236}">
                <a16:creationId xmlns:a16="http://schemas.microsoft.com/office/drawing/2014/main" id="{53249E05-C74B-4ADD-92BD-BF8C8F918D6C}"/>
              </a:ext>
            </a:extLst>
          </p:cNvPr>
          <p:cNvSpPr>
            <a:spLocks noGrp="1"/>
          </p:cNvSpPr>
          <p:nvPr>
            <p:ph type="sldNum" sz="quarter" idx="10"/>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581186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Discovering Services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b="0" i="0" dirty="0">
                <a:solidFill>
                  <a:srgbClr val="000000"/>
                </a:solidFill>
                <a:effectLst/>
              </a:rPr>
              <a:t>On an enterprise network, there are many services running that can provide intel that can be useful to the PenTest team, that include:</a:t>
            </a:r>
          </a:p>
          <a:p>
            <a:pPr lvl="1"/>
            <a:r>
              <a:rPr lang="en-US" b="1" i="0" dirty="0">
                <a:solidFill>
                  <a:srgbClr val="000000"/>
                </a:solidFill>
                <a:effectLst/>
              </a:rPr>
              <a:t>SMTP</a:t>
            </a:r>
            <a:r>
              <a:rPr lang="en-US" dirty="0">
                <a:solidFill>
                  <a:srgbClr val="000000"/>
                </a:solidFill>
              </a:rPr>
              <a:t> (</a:t>
            </a:r>
            <a:r>
              <a:rPr lang="en-US" b="0" i="0" dirty="0">
                <a:solidFill>
                  <a:srgbClr val="000000"/>
                </a:solidFill>
                <a:effectLst/>
              </a:rPr>
              <a:t>TCP port 25)</a:t>
            </a:r>
            <a:r>
              <a:rPr lang="en-US" dirty="0">
                <a:solidFill>
                  <a:srgbClr val="000000"/>
                </a:solidFill>
              </a:rPr>
              <a:t> - </a:t>
            </a:r>
            <a:r>
              <a:rPr lang="en-US" b="0" i="0" dirty="0">
                <a:solidFill>
                  <a:srgbClr val="000000"/>
                </a:solidFill>
                <a:effectLst/>
              </a:rPr>
              <a:t>Extract email addresses. Enumerate SMTP server information. Search for open relays.</a:t>
            </a:r>
          </a:p>
          <a:p>
            <a:pPr lvl="1"/>
            <a:r>
              <a:rPr lang="en-US" b="1" dirty="0"/>
              <a:t>DNS </a:t>
            </a:r>
            <a:r>
              <a:rPr lang="en-US" dirty="0"/>
              <a:t>(TCP port 53) - </a:t>
            </a:r>
            <a:r>
              <a:rPr lang="en-US" dirty="0">
                <a:solidFill>
                  <a:srgbClr val="000000"/>
                </a:solidFill>
              </a:rPr>
              <a:t>Elicit DNS zone transfers and discover DNS subdomains.</a:t>
            </a:r>
          </a:p>
          <a:p>
            <a:pPr lvl="1"/>
            <a:r>
              <a:rPr lang="en-US" b="1" dirty="0"/>
              <a:t>SMB </a:t>
            </a:r>
            <a:r>
              <a:rPr lang="en-US" dirty="0"/>
              <a:t>(TCP port 139) -</a:t>
            </a:r>
            <a:r>
              <a:rPr lang="en-US" b="0" i="0" dirty="0">
                <a:solidFill>
                  <a:srgbClr val="000000"/>
                </a:solidFill>
                <a:effectLst/>
                <a:latin typeface="Open Sans" panose="020B0606030504020204" pitchFamily="34" charset="0"/>
              </a:rPr>
              <a:t> </a:t>
            </a:r>
            <a:r>
              <a:rPr lang="en-US" dirty="0">
                <a:solidFill>
                  <a:srgbClr val="000000"/>
                </a:solidFill>
              </a:rPr>
              <a:t>Retrieve directory information, list, and transfer files.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766491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Enumerating Shares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Shares can be enumerated on either Microsoft or Linux/Unix hosts</a:t>
            </a:r>
          </a:p>
          <a:p>
            <a:pPr lvl="1"/>
            <a:r>
              <a:rPr lang="en-US" b="1" dirty="0"/>
              <a:t>Microsoft hosts: </a:t>
            </a:r>
            <a:r>
              <a:rPr lang="en-US" dirty="0"/>
              <a:t>Microsoft File and Print service, using SMB protocol via TCP ports TCP 139 or 445   </a:t>
            </a:r>
          </a:p>
          <a:p>
            <a:pPr lvl="1"/>
            <a:r>
              <a:rPr lang="en-US" b="1" dirty="0"/>
              <a:t>Linux/Unix (*nix) hosts: </a:t>
            </a:r>
            <a:r>
              <a:rPr lang="en-US" dirty="0"/>
              <a:t>NFS daemon via TCP and UDP port 2049</a:t>
            </a:r>
          </a:p>
          <a:p>
            <a:r>
              <a:rPr lang="en-US" b="0" i="0" dirty="0">
                <a:solidFill>
                  <a:srgbClr val="000000"/>
                </a:solidFill>
                <a:effectLst/>
              </a:rPr>
              <a:t>In addition to the OS built-in commands, you can also use: </a:t>
            </a:r>
          </a:p>
          <a:p>
            <a:pPr lvl="1"/>
            <a:r>
              <a:rPr lang="en-US" b="1" i="0" dirty="0">
                <a:solidFill>
                  <a:srgbClr val="000000"/>
                </a:solidFill>
                <a:effectLst/>
              </a:rPr>
              <a:t>Metasploit</a:t>
            </a:r>
            <a:r>
              <a:rPr lang="en-US" b="0" i="0" dirty="0">
                <a:solidFill>
                  <a:srgbClr val="000000"/>
                </a:solidFill>
                <a:effectLst/>
              </a:rPr>
              <a:t> - a platform for launching attacks against known software vulnerabilities </a:t>
            </a:r>
          </a:p>
          <a:p>
            <a:pPr lvl="1"/>
            <a:r>
              <a:rPr lang="en-US" b="1" i="0" dirty="0">
                <a:solidFill>
                  <a:srgbClr val="000000"/>
                </a:solidFill>
                <a:effectLst/>
              </a:rPr>
              <a:t>ShareEnum </a:t>
            </a:r>
            <a:r>
              <a:rPr lang="en-US" b="0" i="0" dirty="0">
                <a:solidFill>
                  <a:srgbClr val="000000"/>
                </a:solidFill>
                <a:effectLst/>
              </a:rPr>
              <a:t>- a Sysinternals tool that can scan a domain, workgroup, or IP address range </a:t>
            </a:r>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907481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Evaluating Websites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Discovering the resources and technology that the web server is using will  help you choose more effective vectors</a:t>
            </a:r>
          </a:p>
          <a:p>
            <a:r>
              <a:rPr lang="en-US" dirty="0"/>
              <a:t>You can use Nmap to enumerate information using one of several scripts you can use for popular web applications:</a:t>
            </a:r>
          </a:p>
          <a:p>
            <a:pPr lvl="1"/>
            <a:r>
              <a:rPr lang="en-US" dirty="0">
                <a:latin typeface="Lucida Console" panose="020B0609040504020204" pitchFamily="49" charset="0"/>
              </a:rPr>
              <a:t>nmap --script=http-enum &lt;target&gt;</a:t>
            </a:r>
          </a:p>
          <a:p>
            <a:r>
              <a:rPr lang="en-US" dirty="0"/>
              <a:t>Some websites are configured to use non-standard ports.</a:t>
            </a:r>
          </a:p>
          <a:p>
            <a:pPr lvl="1"/>
            <a:r>
              <a:rPr lang="en-US" dirty="0"/>
              <a:t>If you're not sure of the port, you can scan all of them to try to determine what services are bound to these ports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528030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Enumerating Windows Hosts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After completing a ping sweep to identify interesting hosts, the next logical step is to enumerate hosts on the network.</a:t>
            </a:r>
          </a:p>
          <a:p>
            <a:r>
              <a:rPr lang="en-US" dirty="0"/>
              <a:t>When enumerating Windows hosts, there are several tools you can use, including the built-in tools within the OS. For example:</a:t>
            </a:r>
          </a:p>
          <a:p>
            <a:pPr lvl="1"/>
            <a:r>
              <a:rPr lang="en-US" b="1" dirty="0"/>
              <a:t>net view </a:t>
            </a:r>
            <a:r>
              <a:rPr lang="en-US" dirty="0"/>
              <a:t>- To view shares from other hosts in the network</a:t>
            </a:r>
          </a:p>
          <a:p>
            <a:pPr lvl="1"/>
            <a:r>
              <a:rPr lang="en-US" b="1" dirty="0"/>
              <a:t>net user </a:t>
            </a:r>
            <a:r>
              <a:rPr lang="en-US" dirty="0"/>
              <a:t>- To list all users on the machine.</a:t>
            </a:r>
          </a:p>
          <a:p>
            <a:pPr algn="l"/>
            <a:r>
              <a:rPr lang="en-US" dirty="0"/>
              <a:t>There are also several popular tools for Windows host enumeration  that include PowerShell, Nmap, and Metasploit.</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57244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1533C-A906-4176-95DE-05671B4B618D}"/>
              </a:ext>
            </a:extLst>
          </p:cNvPr>
          <p:cNvSpPr>
            <a:spLocks noGrp="1"/>
          </p:cNvSpPr>
          <p:nvPr>
            <p:ph type="title"/>
          </p:nvPr>
        </p:nvSpPr>
        <p:spPr/>
        <p:txBody>
          <a:bodyPr/>
          <a:lstStyle/>
          <a:p>
            <a:r>
              <a:rPr lang="en-US" dirty="0"/>
              <a:t>Query Active Directory for Information</a:t>
            </a:r>
          </a:p>
        </p:txBody>
      </p:sp>
      <p:sp>
        <p:nvSpPr>
          <p:cNvPr id="3" name="Content Placeholder 2">
            <a:extLst>
              <a:ext uri="{FF2B5EF4-FFF2-40B4-BE49-F238E27FC236}">
                <a16:creationId xmlns:a16="http://schemas.microsoft.com/office/drawing/2014/main" id="{ED98EA40-3564-42BB-9C3A-5D73CB3206F5}"/>
              </a:ext>
            </a:extLst>
          </p:cNvPr>
          <p:cNvSpPr>
            <a:spLocks noGrp="1"/>
          </p:cNvSpPr>
          <p:nvPr>
            <p:ph idx="1"/>
          </p:nvPr>
        </p:nvSpPr>
        <p:spPr/>
        <p:txBody>
          <a:bodyPr>
            <a:normAutofit/>
          </a:bodyPr>
          <a:lstStyle/>
          <a:p>
            <a:r>
              <a:rPr lang="en-US" dirty="0"/>
              <a:t>AD stores, organizes, and enables access to other objects and provides essential network services</a:t>
            </a:r>
          </a:p>
          <a:p>
            <a:r>
              <a:rPr lang="en-US" dirty="0"/>
              <a:t>In addition to Nmap and Metasploit, the team can use PowerShell to enumerate information such as users, groups, and domains. </a:t>
            </a:r>
          </a:p>
          <a:p>
            <a:r>
              <a:rPr lang="en-US" dirty="0"/>
              <a:t>Some of the PS cmdlets available for AD enumeration include:</a:t>
            </a:r>
          </a:p>
          <a:p>
            <a:pPr lvl="1"/>
            <a:r>
              <a:rPr lang="en-US" b="1" dirty="0"/>
              <a:t>Get-NetDomain</a:t>
            </a:r>
            <a:r>
              <a:rPr lang="en-US" dirty="0"/>
              <a:t> Get the current user's domain</a:t>
            </a:r>
          </a:p>
          <a:p>
            <a:pPr lvl="1"/>
            <a:r>
              <a:rPr lang="en-US" b="1" dirty="0"/>
              <a:t>Get-NetLoggedon</a:t>
            </a:r>
            <a:r>
              <a:rPr lang="en-US" dirty="0"/>
              <a:t> Get users that are logged on to a given computer:</a:t>
            </a:r>
          </a:p>
          <a:p>
            <a:pPr lvl="1"/>
            <a:r>
              <a:rPr lang="en-US" b="1" dirty="0"/>
              <a:t>Get-NetGroupMember</a:t>
            </a:r>
            <a:r>
              <a:rPr lang="en-US" dirty="0"/>
              <a:t> Get a list of domain members in a given group</a:t>
            </a:r>
          </a:p>
        </p:txBody>
      </p:sp>
      <p:sp>
        <p:nvSpPr>
          <p:cNvPr id="4" name="Slide Number Placeholder 3">
            <a:extLst>
              <a:ext uri="{FF2B5EF4-FFF2-40B4-BE49-F238E27FC236}">
                <a16:creationId xmlns:a16="http://schemas.microsoft.com/office/drawing/2014/main" id="{2D4E6C1B-36C6-4D4B-B15E-DEBD2AB11284}"/>
              </a:ext>
            </a:extLst>
          </p:cNvPr>
          <p:cNvSpPr>
            <a:spLocks noGrp="1"/>
          </p:cNvSpPr>
          <p:nvPr>
            <p:ph type="sldNum" sz="quarter" idx="10"/>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799816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Discovering Linux Systems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Once you compromise a Linux machine in Metasploit, you can use the </a:t>
            </a:r>
            <a:r>
              <a:rPr lang="en-US" sz="2000" dirty="0">
                <a:latin typeface="Lucida Console" panose="020B0609040504020204" pitchFamily="49" charset="0"/>
              </a:rPr>
              <a:t>post/linux/enum_system </a:t>
            </a:r>
            <a:r>
              <a:rPr lang="en-US" dirty="0"/>
              <a:t>module to get information </a:t>
            </a:r>
          </a:p>
          <a:p>
            <a:r>
              <a:rPr lang="en-US" dirty="0"/>
              <a:t>Enumeration modules include:</a:t>
            </a:r>
          </a:p>
          <a:p>
            <a:pPr lvl="1"/>
            <a:r>
              <a:rPr lang="en-US" dirty="0">
                <a:latin typeface="Lucida Console" panose="020B0609040504020204" pitchFamily="49" charset="0"/>
              </a:rPr>
              <a:t>enum_configs</a:t>
            </a:r>
          </a:p>
          <a:p>
            <a:pPr lvl="1"/>
            <a:r>
              <a:rPr lang="en-US" dirty="0">
                <a:latin typeface="Lucida Console" panose="020B0609040504020204" pitchFamily="49" charset="0"/>
              </a:rPr>
              <a:t>enum_network</a:t>
            </a:r>
          </a:p>
          <a:p>
            <a:r>
              <a:rPr lang="en-US" dirty="0"/>
              <a:t>It’s also possible to use the built-in Bash commands:</a:t>
            </a:r>
          </a:p>
          <a:p>
            <a:pPr lvl="1"/>
            <a:r>
              <a:rPr lang="en-US" b="1" dirty="0"/>
              <a:t>finger</a:t>
            </a:r>
            <a:r>
              <a:rPr lang="en-US" dirty="0"/>
              <a:t> - Views a user’s home directory along with login and idle time.</a:t>
            </a:r>
          </a:p>
          <a:p>
            <a:pPr lvl="1"/>
            <a:r>
              <a:rPr lang="en-US" b="1" dirty="0"/>
              <a:t>cat /etc/passwd </a:t>
            </a:r>
            <a:r>
              <a:rPr lang="en-US" dirty="0"/>
              <a:t>- Lists all users on the system</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2258199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normAutofit/>
          </a:bodyPr>
          <a:lstStyle/>
          <a:p>
            <a:r>
              <a:rPr lang="en-US" b="0" i="0" dirty="0">
                <a:solidFill>
                  <a:srgbClr val="000000"/>
                </a:solidFill>
                <a:effectLst/>
              </a:rPr>
              <a:t>List some network services to enumerate and describe how the information can be useful to the team.</a:t>
            </a:r>
          </a:p>
          <a:p>
            <a:r>
              <a:rPr lang="en-US" dirty="0">
                <a:solidFill>
                  <a:srgbClr val="000000"/>
                </a:solidFill>
              </a:rPr>
              <a:t>Outline shares found on either Microsoft or Linux/Unix hosts along with ways the team can enumerate the information.</a:t>
            </a:r>
          </a:p>
          <a:p>
            <a:r>
              <a:rPr lang="en-US" dirty="0">
                <a:solidFill>
                  <a:srgbClr val="000000"/>
                </a:solidFill>
              </a:rPr>
              <a:t>Discuss the resources and technology that the web server is using and how this can help the team choose more effective vectors</a:t>
            </a:r>
          </a:p>
          <a:p>
            <a:r>
              <a:rPr lang="en-US" dirty="0">
                <a:solidFill>
                  <a:srgbClr val="000000"/>
                </a:solidFill>
              </a:rPr>
              <a:t>Explain why it might be beneficial to query AD for Information</a:t>
            </a:r>
          </a:p>
          <a:p>
            <a:endParaRPr lang="en-US" dirty="0"/>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Enumerating Hosts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1379302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Attack LAN Protocols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9B</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9</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2476087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Moving Between VLANS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VLANs are used to organize devices by security need and/or to limit the impact of broadcast traffic on the larger network. </a:t>
            </a:r>
          </a:p>
          <a:p>
            <a:r>
              <a:rPr lang="en-US" dirty="0"/>
              <a:t>VLAN hopping is moving from one VLAN to another. </a:t>
            </a:r>
          </a:p>
          <a:p>
            <a:r>
              <a:rPr lang="en-US" dirty="0"/>
              <a:t>To launch this attack, a malicious actor can do one of the following:</a:t>
            </a:r>
          </a:p>
          <a:p>
            <a:pPr lvl="1"/>
            <a:r>
              <a:rPr lang="en-US" dirty="0"/>
              <a:t>Launch a Macof attack, which overflows the MAC table on a vulnerable switch so that it behaves like a hub, repeating frames out all ports.</a:t>
            </a:r>
          </a:p>
          <a:p>
            <a:pPr lvl="1"/>
            <a:r>
              <a:rPr lang="en-US" dirty="0"/>
              <a:t>Configure the interface of an attacker machine to become a trunk port. This will then allow traffic from any VLAN to flow over that link.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303182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Launching an On-Path Attack</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An on-path attack is when a malicious actor sits in the middle or in the path of a connection. </a:t>
            </a:r>
          </a:p>
          <a:p>
            <a:pPr lvl="1"/>
            <a:r>
              <a:rPr lang="en-US" dirty="0"/>
              <a:t>Both sides think they are communicating directly with each other, but they are doing it through the on-path attack. </a:t>
            </a:r>
          </a:p>
          <a:p>
            <a:pPr lvl="1"/>
            <a:r>
              <a:rPr lang="en-US" dirty="0"/>
              <a:t>The on-path attack then captures information</a:t>
            </a:r>
          </a:p>
          <a:p>
            <a:r>
              <a:rPr lang="en-US" dirty="0"/>
              <a:t>Examples of on-path attacks include:</a:t>
            </a:r>
          </a:p>
          <a:p>
            <a:pPr lvl="1"/>
            <a:r>
              <a:rPr lang="en-US" dirty="0"/>
              <a:t>SSL/TLS stripping attack</a:t>
            </a:r>
          </a:p>
          <a:p>
            <a:pPr lvl="1"/>
            <a:r>
              <a:rPr lang="en-US" dirty="0"/>
              <a:t>Wi-Fi Pineapple (or rogue WAP)</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996616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Spoofing Lan Protocols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An on-path attack is generally done by using either a spoofing or cache poisoning strategy, such as any of the following:</a:t>
            </a:r>
          </a:p>
          <a:p>
            <a:pPr lvl="1"/>
            <a:r>
              <a:rPr lang="en-US" dirty="0"/>
              <a:t>Domain Name System (DNS) cache poisoning </a:t>
            </a:r>
          </a:p>
          <a:p>
            <a:pPr lvl="1"/>
            <a:r>
              <a:rPr lang="en-US" dirty="0"/>
              <a:t>Address Resolution Protocol (ARP) spoofing </a:t>
            </a:r>
          </a:p>
          <a:p>
            <a:pPr lvl="1"/>
            <a:r>
              <a:rPr lang="en-US" dirty="0"/>
              <a:t>MAC address spoofing </a:t>
            </a:r>
          </a:p>
          <a:p>
            <a:r>
              <a:rPr lang="en-US" dirty="0"/>
              <a:t>For any of these attacks, when a device needs to deliver a message to the victim, it will instead send the message to the malicious actor.</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443996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Poisoning LLMNR and NBT-NS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b="1" dirty="0"/>
              <a:t>Responder</a:t>
            </a:r>
            <a:r>
              <a:rPr lang="en-US" dirty="0"/>
              <a:t> is a man-in-the-middle type tool designed to intercept and poison LLMNR and NBT-NS requests</a:t>
            </a:r>
          </a:p>
          <a:p>
            <a:pPr lvl="1"/>
            <a:r>
              <a:rPr lang="en-US" dirty="0"/>
              <a:t>LLMNR and NBT-NS are services used to resolve network addresses. </a:t>
            </a:r>
          </a:p>
          <a:p>
            <a:r>
              <a:rPr lang="en-US" dirty="0"/>
              <a:t>With this attack, the victim must be tricked into querying a nonexistent name or prevented from using a legitimate DNS service. </a:t>
            </a:r>
          </a:p>
          <a:p>
            <a:r>
              <a:rPr lang="en-US" dirty="0"/>
              <a:t>Once a request is intercepted, Responder will return the attacker's host IP as the name record</a:t>
            </a:r>
          </a:p>
          <a:p>
            <a:pPr lvl="1"/>
            <a:r>
              <a:rPr lang="en-US" dirty="0"/>
              <a:t>This causes the querying host to establish a session with the attacker.</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1387039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24865-CA1A-447F-A1C2-6539B55FC546}"/>
              </a:ext>
            </a:extLst>
          </p:cNvPr>
          <p:cNvSpPr>
            <a:spLocks noGrp="1"/>
          </p:cNvSpPr>
          <p:nvPr>
            <p:ph type="title"/>
          </p:nvPr>
        </p:nvSpPr>
        <p:spPr/>
        <p:txBody>
          <a:bodyPr/>
          <a:lstStyle/>
          <a:p>
            <a:r>
              <a:rPr lang="en-US" dirty="0"/>
              <a:t>Grabbing Password Hashes</a:t>
            </a:r>
          </a:p>
        </p:txBody>
      </p:sp>
      <p:sp>
        <p:nvSpPr>
          <p:cNvPr id="3" name="Content Placeholder 2">
            <a:extLst>
              <a:ext uri="{FF2B5EF4-FFF2-40B4-BE49-F238E27FC236}">
                <a16:creationId xmlns:a16="http://schemas.microsoft.com/office/drawing/2014/main" id="{613B8198-A838-4CBB-8C42-873E04017998}"/>
              </a:ext>
            </a:extLst>
          </p:cNvPr>
          <p:cNvSpPr>
            <a:spLocks noGrp="1"/>
          </p:cNvSpPr>
          <p:nvPr>
            <p:ph idx="1"/>
          </p:nvPr>
        </p:nvSpPr>
        <p:spPr/>
        <p:txBody>
          <a:bodyPr>
            <a:normAutofit/>
          </a:bodyPr>
          <a:lstStyle/>
          <a:p>
            <a:r>
              <a:rPr lang="en-US" sz="2400" dirty="0"/>
              <a:t>One way to circumvent an authentication process is to use a hash</a:t>
            </a:r>
          </a:p>
          <a:p>
            <a:r>
              <a:rPr lang="en-US" sz="2400" b="1" dirty="0"/>
              <a:t>Pass the Hash </a:t>
            </a:r>
            <a:r>
              <a:rPr lang="en-US" sz="2400" dirty="0"/>
              <a:t>(NTLM relay) attack is when attacker steals hashed user credentials and uses them to try to authenticate to a system</a:t>
            </a:r>
          </a:p>
          <a:p>
            <a:r>
              <a:rPr lang="en-US" b="1" dirty="0"/>
              <a:t>Kerberoasting</a:t>
            </a:r>
            <a:r>
              <a:rPr lang="en-US" dirty="0"/>
              <a:t> extracts service account credential hashes from AD, and then performs an offline crack to obtain the password. </a:t>
            </a:r>
          </a:p>
          <a:p>
            <a:pPr lvl="1"/>
            <a:r>
              <a:rPr lang="en-US" dirty="0"/>
              <a:t>Once you obtain the password, you can then to take control of the system. </a:t>
            </a:r>
          </a:p>
          <a:p>
            <a:pPr lvl="1"/>
            <a:r>
              <a:rPr lang="en-US" dirty="0"/>
              <a:t>Kerberoasting is a significant attack as many services have admin privileges, and their passwords are seldom changed. </a:t>
            </a:r>
          </a:p>
          <a:p>
            <a:endParaRPr lang="en-US" dirty="0"/>
          </a:p>
        </p:txBody>
      </p:sp>
      <p:sp>
        <p:nvSpPr>
          <p:cNvPr id="4" name="Slide Number Placeholder 3">
            <a:extLst>
              <a:ext uri="{FF2B5EF4-FFF2-40B4-BE49-F238E27FC236}">
                <a16:creationId xmlns:a16="http://schemas.microsoft.com/office/drawing/2014/main" id="{87604321-9F82-4959-85C7-BDC2A5078745}"/>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1762959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Chaining Exploits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Exploit chaining uses multiple exploits to form a larger attack. </a:t>
            </a:r>
          </a:p>
          <a:p>
            <a:r>
              <a:rPr lang="en-US" dirty="0"/>
              <a:t>Success of the attack will depend on all exploits doing their part. </a:t>
            </a:r>
          </a:p>
          <a:p>
            <a:pPr lvl="1"/>
            <a:r>
              <a:rPr lang="en-US" dirty="0"/>
              <a:t>Using multiple forms of attacks makes them difficult to defend against.</a:t>
            </a:r>
          </a:p>
          <a:p>
            <a:r>
              <a:rPr lang="en-US" dirty="0"/>
              <a:t>Some examples of exploit chaining include:</a:t>
            </a:r>
          </a:p>
          <a:p>
            <a:pPr lvl="1"/>
            <a:r>
              <a:rPr lang="en-US" dirty="0"/>
              <a:t>A Metasploit exploit that results in a user-level shell, followed by a local privilege escalation attack to give the shell system-level privileges.</a:t>
            </a:r>
          </a:p>
          <a:p>
            <a:pPr lvl="1"/>
            <a:r>
              <a:rPr lang="en-US" dirty="0"/>
              <a:t>Breaking into a private network, planting a malicious device, then using that device to discover and attack vulnerable systems.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1929722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Explain how a VLAN hopping works</a:t>
            </a:r>
          </a:p>
          <a:p>
            <a:r>
              <a:rPr lang="en-US" dirty="0"/>
              <a:t>Describe an on-path attack</a:t>
            </a:r>
          </a:p>
          <a:p>
            <a:r>
              <a:rPr lang="en-US" dirty="0"/>
              <a:t>List some spoofing or cache poisoning attacks</a:t>
            </a:r>
          </a:p>
          <a:p>
            <a:r>
              <a:rPr lang="en-US" dirty="0"/>
              <a:t>Discuss the benefit of poisoning LLMNR and NBT-NS requests</a:t>
            </a:r>
          </a:p>
          <a:p>
            <a:r>
              <a:rPr lang="en-US" sz="2400" dirty="0"/>
              <a:t>Outline how to circumvent an authentication process using a hash</a:t>
            </a:r>
          </a:p>
          <a:p>
            <a:r>
              <a:rPr lang="en-US" dirty="0"/>
              <a:t>Review how chaining exploits lead to a more successful attack</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Attack LAN Protocols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555248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Compare Exploit Tools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9C</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9</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1865066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Testing with Metasploit Framework (MSF) </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pPr algn="l"/>
            <a:r>
              <a:rPr lang="en-US" b="0" i="0" dirty="0">
                <a:solidFill>
                  <a:srgbClr val="000000"/>
                </a:solidFill>
                <a:effectLst/>
              </a:rPr>
              <a:t>MSF is a multi-purpose PenTesting framework organized into modules, such as Exploits, Payloads, and Auxiliary.</a:t>
            </a:r>
            <a:endParaRPr lang="en-US" dirty="0">
              <a:solidFill>
                <a:srgbClr val="000000"/>
              </a:solidFill>
            </a:endParaRPr>
          </a:p>
          <a:p>
            <a:pPr algn="l"/>
            <a:r>
              <a:rPr lang="en-US" b="0" i="0" dirty="0">
                <a:solidFill>
                  <a:srgbClr val="000000"/>
                </a:solidFill>
                <a:effectLst/>
              </a:rPr>
              <a:t>Once you specify a module, set options, such as: </a:t>
            </a:r>
          </a:p>
          <a:p>
            <a:pPr lvl="1"/>
            <a:r>
              <a:rPr lang="en-US" b="1" i="0" dirty="0">
                <a:solidFill>
                  <a:srgbClr val="000000"/>
                </a:solidFill>
                <a:effectLst/>
              </a:rPr>
              <a:t>RHOSTS</a:t>
            </a:r>
            <a:r>
              <a:rPr lang="en-US" b="0" i="0" dirty="0">
                <a:solidFill>
                  <a:srgbClr val="000000"/>
                </a:solidFill>
                <a:effectLst/>
              </a:rPr>
              <a:t>, </a:t>
            </a:r>
            <a:r>
              <a:rPr lang="en-US" b="1" i="0" dirty="0">
                <a:solidFill>
                  <a:srgbClr val="000000"/>
                </a:solidFill>
                <a:effectLst/>
              </a:rPr>
              <a:t>LHOST</a:t>
            </a:r>
            <a:r>
              <a:rPr lang="en-US" dirty="0">
                <a:solidFill>
                  <a:srgbClr val="000000"/>
                </a:solidFill>
              </a:rPr>
              <a:t>, and </a:t>
            </a:r>
            <a:r>
              <a:rPr lang="en-US" b="1" i="0" dirty="0">
                <a:solidFill>
                  <a:srgbClr val="000000"/>
                </a:solidFill>
                <a:effectLst/>
              </a:rPr>
              <a:t>RPORT</a:t>
            </a:r>
            <a:endParaRPr lang="en-US" b="0" i="0" dirty="0">
              <a:solidFill>
                <a:srgbClr val="000000"/>
              </a:solidFill>
              <a:effectLst/>
            </a:endParaRPr>
          </a:p>
          <a:p>
            <a:r>
              <a:rPr lang="en-US" b="0" i="0" dirty="0">
                <a:solidFill>
                  <a:srgbClr val="000000"/>
                </a:solidFill>
                <a:effectLst/>
              </a:rPr>
              <a:t>If you are using an exploit, you will also need to specify the payload. </a:t>
            </a:r>
          </a:p>
          <a:p>
            <a:pPr lvl="1"/>
            <a:r>
              <a:rPr lang="en-US" b="0" i="0" dirty="0">
                <a:solidFill>
                  <a:srgbClr val="000000"/>
                </a:solidFill>
                <a:effectLst/>
              </a:rPr>
              <a:t>The most popular payload is Meterpreter</a:t>
            </a:r>
          </a:p>
          <a:p>
            <a:r>
              <a:rPr lang="en-US" dirty="0">
                <a:solidFill>
                  <a:srgbClr val="000000"/>
                </a:solidFill>
              </a:rPr>
              <a:t>Both Metasploit Framework and Metasploit Pro allow you to search and select scanning modules.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44198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RECOGNIZING OTHER TOOLS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The following are some of the tools used when working on a LAN:</a:t>
            </a:r>
          </a:p>
          <a:p>
            <a:pPr lvl="1"/>
            <a:r>
              <a:rPr lang="en-US" b="1" dirty="0"/>
              <a:t>Impacket tools </a:t>
            </a:r>
            <a:r>
              <a:rPr lang="en-US" dirty="0"/>
              <a:t>is a collection of tools used in a Windows environment. </a:t>
            </a:r>
          </a:p>
          <a:p>
            <a:pPr lvl="1"/>
            <a:r>
              <a:rPr lang="en-US" b="1" dirty="0"/>
              <a:t>Responder</a:t>
            </a:r>
            <a:r>
              <a:rPr lang="en-US" dirty="0"/>
              <a:t> is used to poison NetBIOS, LLMNR, and MDNS requests.</a:t>
            </a:r>
          </a:p>
          <a:p>
            <a:pPr lvl="1"/>
            <a:r>
              <a:rPr lang="en-US" b="1" dirty="0"/>
              <a:t>mitm6 </a:t>
            </a:r>
            <a:r>
              <a:rPr lang="en-US" dirty="0"/>
              <a:t>is an IPv6 DNS hijacking tool </a:t>
            </a:r>
          </a:p>
          <a:p>
            <a:r>
              <a:rPr lang="en-US" dirty="0"/>
              <a:t>In addition to the tools used to launch attacks, the PenTest team will need to be aware of all possible exploits. </a:t>
            </a:r>
          </a:p>
          <a:p>
            <a:pPr lvl="1"/>
            <a:r>
              <a:rPr lang="en-US" dirty="0"/>
              <a:t>The team can use Exploit DB, which provides a complete collection of public exploits and vulnerable software in a searchable database. </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44629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Discuss how the team can use the Metasploit Framework (MSF) </a:t>
            </a:r>
          </a:p>
          <a:p>
            <a:r>
              <a:rPr lang="en-US" dirty="0"/>
              <a:t>List some of other tools used when working PenTesting on a LAN</a:t>
            </a:r>
          </a:p>
          <a:p>
            <a:r>
              <a:rPr lang="en-US" dirty="0"/>
              <a:t>Describe how the team can use Exploit DB</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Compare Exploit Tools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3677739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59B2B-48E2-4647-ABDD-6BF7993BECA5}"/>
              </a:ext>
            </a:extLst>
          </p:cNvPr>
          <p:cNvSpPr>
            <a:spLocks noGrp="1"/>
          </p:cNvSpPr>
          <p:nvPr>
            <p:ph type="sldNum" sz="quarter" idx="13"/>
          </p:nvPr>
        </p:nvSpPr>
        <p:spPr/>
        <p:txBody>
          <a:bodyPr/>
          <a:lstStyle/>
          <a:p>
            <a:fld id="{B7CF8A19-3A9E-4ABC-B336-2FDDE321C72D}" type="slidenum">
              <a:rPr lang="en-US" smtClean="0"/>
              <a:pPr/>
              <a:t>24</a:t>
            </a:fld>
            <a:endParaRPr lang="en-US"/>
          </a:p>
        </p:txBody>
      </p:sp>
      <p:sp>
        <p:nvSpPr>
          <p:cNvPr id="3" name="Content Placeholder 2">
            <a:extLst>
              <a:ext uri="{FF2B5EF4-FFF2-40B4-BE49-F238E27FC236}">
                <a16:creationId xmlns:a16="http://schemas.microsoft.com/office/drawing/2014/main" id="{568708AE-48ED-4852-AE39-86C44E3C3102}"/>
              </a:ext>
            </a:extLst>
          </p:cNvPr>
          <p:cNvSpPr>
            <a:spLocks noGrp="1"/>
          </p:cNvSpPr>
          <p:nvPr>
            <p:ph sz="quarter" idx="14"/>
          </p:nvPr>
        </p:nvSpPr>
        <p:spPr>
          <a:xfrm>
            <a:off x="146050" y="748621"/>
            <a:ext cx="3742072" cy="4044357"/>
          </a:xfrm>
        </p:spPr>
        <p:txBody>
          <a:bodyPr/>
          <a:lstStyle/>
          <a:p>
            <a:pPr marL="0" indent="0">
              <a:buNone/>
            </a:pPr>
            <a:r>
              <a:rPr lang="en-US" sz="1800" b="0" i="0" u="none" strike="noStrike" dirty="0">
                <a:solidFill>
                  <a:srgbClr val="000000"/>
                </a:solidFill>
                <a:effectLst/>
                <a:latin typeface="Calibri" panose="020F0502020204030204" pitchFamily="34" charset="0"/>
              </a:rPr>
              <a:t>Assisted Lab: Penetrating an Internal Network</a:t>
            </a:r>
            <a:endParaRPr lang="en-US" dirty="0"/>
          </a:p>
        </p:txBody>
      </p:sp>
      <p:sp>
        <p:nvSpPr>
          <p:cNvPr id="5" name="TextBox 4">
            <a:extLst>
              <a:ext uri="{FF2B5EF4-FFF2-40B4-BE49-F238E27FC236}">
                <a16:creationId xmlns:a16="http://schemas.microsoft.com/office/drawing/2014/main" id="{913E43AC-45A4-4D84-834A-CE8499000767}"/>
              </a:ext>
            </a:extLst>
          </p:cNvPr>
          <p:cNvSpPr txBox="1"/>
          <p:nvPr/>
        </p:nvSpPr>
        <p:spPr>
          <a:xfrm>
            <a:off x="3975101" y="742950"/>
            <a:ext cx="5120843" cy="3986972"/>
          </a:xfrm>
          <a:custGeom>
            <a:avLst/>
            <a:gdLst>
              <a:gd name="connsiteX0" fmla="*/ 0 w 5120843"/>
              <a:gd name="connsiteY0" fmla="*/ 0 h 3986972"/>
              <a:gd name="connsiteX1" fmla="*/ 620191 w 5120843"/>
              <a:gd name="connsiteY1" fmla="*/ 0 h 3986972"/>
              <a:gd name="connsiteX2" fmla="*/ 1035548 w 5120843"/>
              <a:gd name="connsiteY2" fmla="*/ 0 h 3986972"/>
              <a:gd name="connsiteX3" fmla="*/ 1655739 w 5120843"/>
              <a:gd name="connsiteY3" fmla="*/ 0 h 3986972"/>
              <a:gd name="connsiteX4" fmla="*/ 2173513 w 5120843"/>
              <a:gd name="connsiteY4" fmla="*/ 0 h 3986972"/>
              <a:gd name="connsiteX5" fmla="*/ 2793704 w 5120843"/>
              <a:gd name="connsiteY5" fmla="*/ 0 h 3986972"/>
              <a:gd name="connsiteX6" fmla="*/ 3260270 w 5120843"/>
              <a:gd name="connsiteY6" fmla="*/ 0 h 3986972"/>
              <a:gd name="connsiteX7" fmla="*/ 3931669 w 5120843"/>
              <a:gd name="connsiteY7" fmla="*/ 0 h 3986972"/>
              <a:gd name="connsiteX8" fmla="*/ 4603069 w 5120843"/>
              <a:gd name="connsiteY8" fmla="*/ 0 h 3986972"/>
              <a:gd name="connsiteX9" fmla="*/ 5120843 w 5120843"/>
              <a:gd name="connsiteY9" fmla="*/ 0 h 3986972"/>
              <a:gd name="connsiteX10" fmla="*/ 5120843 w 5120843"/>
              <a:gd name="connsiteY10" fmla="*/ 489828 h 3986972"/>
              <a:gd name="connsiteX11" fmla="*/ 5120843 w 5120843"/>
              <a:gd name="connsiteY11" fmla="*/ 1139135 h 3986972"/>
              <a:gd name="connsiteX12" fmla="*/ 5120843 w 5120843"/>
              <a:gd name="connsiteY12" fmla="*/ 1788442 h 3986972"/>
              <a:gd name="connsiteX13" fmla="*/ 5120843 w 5120843"/>
              <a:gd name="connsiteY13" fmla="*/ 2437749 h 3986972"/>
              <a:gd name="connsiteX14" fmla="*/ 5120843 w 5120843"/>
              <a:gd name="connsiteY14" fmla="*/ 2887707 h 3986972"/>
              <a:gd name="connsiteX15" fmla="*/ 5120843 w 5120843"/>
              <a:gd name="connsiteY15" fmla="*/ 3377535 h 3986972"/>
              <a:gd name="connsiteX16" fmla="*/ 5120843 w 5120843"/>
              <a:gd name="connsiteY16" fmla="*/ 3986972 h 3986972"/>
              <a:gd name="connsiteX17" fmla="*/ 4500652 w 5120843"/>
              <a:gd name="connsiteY17" fmla="*/ 3986972 h 3986972"/>
              <a:gd name="connsiteX18" fmla="*/ 4034086 w 5120843"/>
              <a:gd name="connsiteY18" fmla="*/ 3986972 h 3986972"/>
              <a:gd name="connsiteX19" fmla="*/ 3362687 w 5120843"/>
              <a:gd name="connsiteY19" fmla="*/ 3986972 h 3986972"/>
              <a:gd name="connsiteX20" fmla="*/ 2691287 w 5120843"/>
              <a:gd name="connsiteY20" fmla="*/ 3986972 h 3986972"/>
              <a:gd name="connsiteX21" fmla="*/ 2224722 w 5120843"/>
              <a:gd name="connsiteY21" fmla="*/ 3986972 h 3986972"/>
              <a:gd name="connsiteX22" fmla="*/ 1809365 w 5120843"/>
              <a:gd name="connsiteY22" fmla="*/ 3986972 h 3986972"/>
              <a:gd name="connsiteX23" fmla="*/ 1394007 w 5120843"/>
              <a:gd name="connsiteY23" fmla="*/ 3986972 h 3986972"/>
              <a:gd name="connsiteX24" fmla="*/ 876233 w 5120843"/>
              <a:gd name="connsiteY24" fmla="*/ 3986972 h 3986972"/>
              <a:gd name="connsiteX25" fmla="*/ 0 w 5120843"/>
              <a:gd name="connsiteY25" fmla="*/ 3986972 h 3986972"/>
              <a:gd name="connsiteX26" fmla="*/ 0 w 5120843"/>
              <a:gd name="connsiteY26" fmla="*/ 3457274 h 3986972"/>
              <a:gd name="connsiteX27" fmla="*/ 0 w 5120843"/>
              <a:gd name="connsiteY27" fmla="*/ 2927577 h 3986972"/>
              <a:gd name="connsiteX28" fmla="*/ 0 w 5120843"/>
              <a:gd name="connsiteY28" fmla="*/ 2278270 h 3986972"/>
              <a:gd name="connsiteX29" fmla="*/ 0 w 5120843"/>
              <a:gd name="connsiteY29" fmla="*/ 1748572 h 3986972"/>
              <a:gd name="connsiteX30" fmla="*/ 0 w 5120843"/>
              <a:gd name="connsiteY30" fmla="*/ 1298614 h 3986972"/>
              <a:gd name="connsiteX31" fmla="*/ 0 w 5120843"/>
              <a:gd name="connsiteY31" fmla="*/ 768916 h 3986972"/>
              <a:gd name="connsiteX32" fmla="*/ 0 w 5120843"/>
              <a:gd name="connsiteY32" fmla="*/ 0 h 398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20843" h="3986972" fill="none" extrusionOk="0">
                <a:moveTo>
                  <a:pt x="0" y="0"/>
                </a:moveTo>
                <a:cubicBezTo>
                  <a:pt x="181082" y="-44144"/>
                  <a:pt x="332351" y="17296"/>
                  <a:pt x="620191" y="0"/>
                </a:cubicBezTo>
                <a:cubicBezTo>
                  <a:pt x="908031" y="-17296"/>
                  <a:pt x="913865" y="31805"/>
                  <a:pt x="1035548" y="0"/>
                </a:cubicBezTo>
                <a:cubicBezTo>
                  <a:pt x="1157231" y="-31805"/>
                  <a:pt x="1401820" y="28595"/>
                  <a:pt x="1655739" y="0"/>
                </a:cubicBezTo>
                <a:cubicBezTo>
                  <a:pt x="1909658" y="-28595"/>
                  <a:pt x="2005301" y="20107"/>
                  <a:pt x="2173513" y="0"/>
                </a:cubicBezTo>
                <a:cubicBezTo>
                  <a:pt x="2341725" y="-20107"/>
                  <a:pt x="2581271" y="43917"/>
                  <a:pt x="2793704" y="0"/>
                </a:cubicBezTo>
                <a:cubicBezTo>
                  <a:pt x="3006137" y="-43917"/>
                  <a:pt x="3042637" y="10045"/>
                  <a:pt x="3260270" y="0"/>
                </a:cubicBezTo>
                <a:cubicBezTo>
                  <a:pt x="3477903" y="-10045"/>
                  <a:pt x="3644284" y="77189"/>
                  <a:pt x="3931669" y="0"/>
                </a:cubicBezTo>
                <a:cubicBezTo>
                  <a:pt x="4219054" y="-77189"/>
                  <a:pt x="4316130" y="46666"/>
                  <a:pt x="4603069" y="0"/>
                </a:cubicBezTo>
                <a:cubicBezTo>
                  <a:pt x="4890008" y="-46666"/>
                  <a:pt x="4998350" y="36197"/>
                  <a:pt x="5120843" y="0"/>
                </a:cubicBezTo>
                <a:cubicBezTo>
                  <a:pt x="5128488" y="186839"/>
                  <a:pt x="5112671" y="254479"/>
                  <a:pt x="5120843" y="489828"/>
                </a:cubicBezTo>
                <a:cubicBezTo>
                  <a:pt x="5129015" y="725177"/>
                  <a:pt x="5060647" y="965704"/>
                  <a:pt x="5120843" y="1139135"/>
                </a:cubicBezTo>
                <a:cubicBezTo>
                  <a:pt x="5181039" y="1312566"/>
                  <a:pt x="5049372" y="1539935"/>
                  <a:pt x="5120843" y="1788442"/>
                </a:cubicBezTo>
                <a:cubicBezTo>
                  <a:pt x="5192314" y="2036949"/>
                  <a:pt x="5061265" y="2214741"/>
                  <a:pt x="5120843" y="2437749"/>
                </a:cubicBezTo>
                <a:cubicBezTo>
                  <a:pt x="5180421" y="2660757"/>
                  <a:pt x="5078268" y="2666755"/>
                  <a:pt x="5120843" y="2887707"/>
                </a:cubicBezTo>
                <a:cubicBezTo>
                  <a:pt x="5163418" y="3108659"/>
                  <a:pt x="5103872" y="3212463"/>
                  <a:pt x="5120843" y="3377535"/>
                </a:cubicBezTo>
                <a:cubicBezTo>
                  <a:pt x="5137814" y="3542607"/>
                  <a:pt x="5090777" y="3838116"/>
                  <a:pt x="5120843" y="3986972"/>
                </a:cubicBezTo>
                <a:cubicBezTo>
                  <a:pt x="4958232" y="4008270"/>
                  <a:pt x="4738321" y="3954766"/>
                  <a:pt x="4500652" y="3986972"/>
                </a:cubicBezTo>
                <a:cubicBezTo>
                  <a:pt x="4262983" y="4019178"/>
                  <a:pt x="4225098" y="3932484"/>
                  <a:pt x="4034086" y="3986972"/>
                </a:cubicBezTo>
                <a:cubicBezTo>
                  <a:pt x="3843074" y="4041460"/>
                  <a:pt x="3602078" y="3914575"/>
                  <a:pt x="3362687" y="3986972"/>
                </a:cubicBezTo>
                <a:cubicBezTo>
                  <a:pt x="3123296" y="4059369"/>
                  <a:pt x="2951314" y="3919249"/>
                  <a:pt x="2691287" y="3986972"/>
                </a:cubicBezTo>
                <a:cubicBezTo>
                  <a:pt x="2431260" y="4054695"/>
                  <a:pt x="2350391" y="3956158"/>
                  <a:pt x="2224722" y="3986972"/>
                </a:cubicBezTo>
                <a:cubicBezTo>
                  <a:pt x="2099054" y="4017786"/>
                  <a:pt x="1991047" y="3955209"/>
                  <a:pt x="1809365" y="3986972"/>
                </a:cubicBezTo>
                <a:cubicBezTo>
                  <a:pt x="1627683" y="4018735"/>
                  <a:pt x="1518268" y="3941113"/>
                  <a:pt x="1394007" y="3986972"/>
                </a:cubicBezTo>
                <a:cubicBezTo>
                  <a:pt x="1269746" y="4032831"/>
                  <a:pt x="1001496" y="3974555"/>
                  <a:pt x="876233" y="3986972"/>
                </a:cubicBezTo>
                <a:cubicBezTo>
                  <a:pt x="750970" y="3999389"/>
                  <a:pt x="342774" y="3907284"/>
                  <a:pt x="0" y="3986972"/>
                </a:cubicBezTo>
                <a:cubicBezTo>
                  <a:pt x="-41093" y="3761640"/>
                  <a:pt x="12633" y="3591114"/>
                  <a:pt x="0" y="3457274"/>
                </a:cubicBezTo>
                <a:cubicBezTo>
                  <a:pt x="-12633" y="3323434"/>
                  <a:pt x="53828" y="3048359"/>
                  <a:pt x="0" y="2927577"/>
                </a:cubicBezTo>
                <a:cubicBezTo>
                  <a:pt x="-53828" y="2806795"/>
                  <a:pt x="22417" y="2456264"/>
                  <a:pt x="0" y="2278270"/>
                </a:cubicBezTo>
                <a:cubicBezTo>
                  <a:pt x="-22417" y="2100276"/>
                  <a:pt x="52072" y="1993161"/>
                  <a:pt x="0" y="1748572"/>
                </a:cubicBezTo>
                <a:cubicBezTo>
                  <a:pt x="-52072" y="1503983"/>
                  <a:pt x="23634" y="1446189"/>
                  <a:pt x="0" y="1298614"/>
                </a:cubicBezTo>
                <a:cubicBezTo>
                  <a:pt x="-23634" y="1151039"/>
                  <a:pt x="2064" y="1023762"/>
                  <a:pt x="0" y="768916"/>
                </a:cubicBezTo>
                <a:cubicBezTo>
                  <a:pt x="-2064" y="514070"/>
                  <a:pt x="41086" y="192150"/>
                  <a:pt x="0" y="0"/>
                </a:cubicBezTo>
                <a:close/>
              </a:path>
              <a:path w="5120843" h="3986972" stroke="0" extrusionOk="0">
                <a:moveTo>
                  <a:pt x="0" y="0"/>
                </a:moveTo>
                <a:cubicBezTo>
                  <a:pt x="196917" y="-3664"/>
                  <a:pt x="331007" y="36965"/>
                  <a:pt x="568983" y="0"/>
                </a:cubicBezTo>
                <a:cubicBezTo>
                  <a:pt x="806959" y="-36965"/>
                  <a:pt x="895566" y="12616"/>
                  <a:pt x="1137965" y="0"/>
                </a:cubicBezTo>
                <a:cubicBezTo>
                  <a:pt x="1380364" y="-12616"/>
                  <a:pt x="1373421" y="28097"/>
                  <a:pt x="1604531" y="0"/>
                </a:cubicBezTo>
                <a:cubicBezTo>
                  <a:pt x="1835641" y="-28097"/>
                  <a:pt x="1991050" y="62516"/>
                  <a:pt x="2275930" y="0"/>
                </a:cubicBezTo>
                <a:cubicBezTo>
                  <a:pt x="2560810" y="-62516"/>
                  <a:pt x="2764877" y="24309"/>
                  <a:pt x="2896121" y="0"/>
                </a:cubicBezTo>
                <a:cubicBezTo>
                  <a:pt x="3027365" y="-24309"/>
                  <a:pt x="3333223" y="68499"/>
                  <a:pt x="3567521" y="0"/>
                </a:cubicBezTo>
                <a:cubicBezTo>
                  <a:pt x="3801819" y="-68499"/>
                  <a:pt x="3880549" y="26681"/>
                  <a:pt x="4034086" y="0"/>
                </a:cubicBezTo>
                <a:cubicBezTo>
                  <a:pt x="4187623" y="-26681"/>
                  <a:pt x="4292075" y="6610"/>
                  <a:pt x="4449444" y="0"/>
                </a:cubicBezTo>
                <a:cubicBezTo>
                  <a:pt x="4606813" y="-6610"/>
                  <a:pt x="4924858" y="50377"/>
                  <a:pt x="5120843" y="0"/>
                </a:cubicBezTo>
                <a:cubicBezTo>
                  <a:pt x="5124064" y="177052"/>
                  <a:pt x="5075000" y="364208"/>
                  <a:pt x="5120843" y="609437"/>
                </a:cubicBezTo>
                <a:cubicBezTo>
                  <a:pt x="5166686" y="854666"/>
                  <a:pt x="5080602" y="1006665"/>
                  <a:pt x="5120843" y="1258744"/>
                </a:cubicBezTo>
                <a:cubicBezTo>
                  <a:pt x="5161084" y="1510823"/>
                  <a:pt x="5065440" y="1665073"/>
                  <a:pt x="5120843" y="1908051"/>
                </a:cubicBezTo>
                <a:cubicBezTo>
                  <a:pt x="5176246" y="2151029"/>
                  <a:pt x="5063729" y="2204958"/>
                  <a:pt x="5120843" y="2477618"/>
                </a:cubicBezTo>
                <a:cubicBezTo>
                  <a:pt x="5177957" y="2750278"/>
                  <a:pt x="5087919" y="2838664"/>
                  <a:pt x="5120843" y="3126925"/>
                </a:cubicBezTo>
                <a:cubicBezTo>
                  <a:pt x="5153767" y="3415186"/>
                  <a:pt x="5044073" y="3617059"/>
                  <a:pt x="5120843" y="3986972"/>
                </a:cubicBezTo>
                <a:cubicBezTo>
                  <a:pt x="4997668" y="3999707"/>
                  <a:pt x="4820200" y="3951302"/>
                  <a:pt x="4705486" y="3986972"/>
                </a:cubicBezTo>
                <a:cubicBezTo>
                  <a:pt x="4590772" y="4022642"/>
                  <a:pt x="4451539" y="3944457"/>
                  <a:pt x="4238920" y="3986972"/>
                </a:cubicBezTo>
                <a:cubicBezTo>
                  <a:pt x="4026301" y="4029487"/>
                  <a:pt x="3838266" y="3921800"/>
                  <a:pt x="3618729" y="3986972"/>
                </a:cubicBezTo>
                <a:cubicBezTo>
                  <a:pt x="3399192" y="4052144"/>
                  <a:pt x="3343191" y="3981849"/>
                  <a:pt x="3152163" y="3986972"/>
                </a:cubicBezTo>
                <a:cubicBezTo>
                  <a:pt x="2961135" y="3992095"/>
                  <a:pt x="2783312" y="3927901"/>
                  <a:pt x="2583181" y="3986972"/>
                </a:cubicBezTo>
                <a:cubicBezTo>
                  <a:pt x="2383050" y="4046043"/>
                  <a:pt x="2319553" y="3935605"/>
                  <a:pt x="2065407" y="3986972"/>
                </a:cubicBezTo>
                <a:cubicBezTo>
                  <a:pt x="1811261" y="4038339"/>
                  <a:pt x="1855188" y="3971939"/>
                  <a:pt x="1650049" y="3986972"/>
                </a:cubicBezTo>
                <a:cubicBezTo>
                  <a:pt x="1444910" y="4002005"/>
                  <a:pt x="1360394" y="3981690"/>
                  <a:pt x="1081067" y="3986972"/>
                </a:cubicBezTo>
                <a:cubicBezTo>
                  <a:pt x="801740" y="3992254"/>
                  <a:pt x="814428" y="3941863"/>
                  <a:pt x="665710" y="3986972"/>
                </a:cubicBezTo>
                <a:cubicBezTo>
                  <a:pt x="516992" y="4032081"/>
                  <a:pt x="318869" y="3967429"/>
                  <a:pt x="0" y="3986972"/>
                </a:cubicBezTo>
                <a:cubicBezTo>
                  <a:pt x="-38782" y="3876890"/>
                  <a:pt x="24531" y="3734988"/>
                  <a:pt x="0" y="3537014"/>
                </a:cubicBezTo>
                <a:cubicBezTo>
                  <a:pt x="-24531" y="3339040"/>
                  <a:pt x="3800" y="3024723"/>
                  <a:pt x="0" y="2887707"/>
                </a:cubicBezTo>
                <a:cubicBezTo>
                  <a:pt x="-3800" y="2750691"/>
                  <a:pt x="22496" y="2499081"/>
                  <a:pt x="0" y="2358009"/>
                </a:cubicBezTo>
                <a:cubicBezTo>
                  <a:pt x="-22496" y="2216937"/>
                  <a:pt x="26334" y="2017386"/>
                  <a:pt x="0" y="1868181"/>
                </a:cubicBezTo>
                <a:cubicBezTo>
                  <a:pt x="-26334" y="1718976"/>
                  <a:pt x="31746" y="1426559"/>
                  <a:pt x="0" y="1218874"/>
                </a:cubicBezTo>
                <a:cubicBezTo>
                  <a:pt x="-31746" y="1011189"/>
                  <a:pt x="40466" y="846605"/>
                  <a:pt x="0" y="729046"/>
                </a:cubicBezTo>
                <a:cubicBezTo>
                  <a:pt x="-40466" y="611487"/>
                  <a:pt x="3188" y="174080"/>
                  <a:pt x="0" y="0"/>
                </a:cubicBezTo>
                <a:close/>
              </a:path>
            </a:pathLst>
          </a:custGeom>
          <a:ln>
            <a:noFill/>
            <a:extLst>
              <a:ext uri="{C807C97D-BFC1-408E-A445-0C87EB9F89A2}">
                <ask:lineSketchStyleProps xmlns:ask="http://schemas.microsoft.com/office/drawing/2018/sketchyshapes" sd="3368494492">
                  <a:prstGeom prst="rect">
                    <a:avLst/>
                  </a:prstGeom>
                  <ask:type>
                    <ask:lineSketchScribble/>
                  </ask:type>
                </ask:lineSketchStyleProps>
              </a:ext>
            </a:extLst>
          </a:ln>
        </p:spPr>
        <p:txBody>
          <a:bodyPr vert="horz" lIns="91440" tIns="45720" rIns="91440" bIns="45720" rtlCol="0">
            <a:normAutofit fontScale="62500" lnSpcReduction="20000"/>
          </a:bodyPr>
          <a:lstStyle>
            <a:lvl1pPr marL="257175" lvl="0" indent="-257175" defTabSz="342900">
              <a:spcBef>
                <a:spcPts val="1000"/>
              </a:spcBef>
              <a:spcAft>
                <a:spcPts val="600"/>
              </a:spcAft>
              <a:buClrTx/>
              <a:buFont typeface="Arial" panose="020B0604020202020204" pitchFamily="34" charset="0"/>
              <a:buChar char="•"/>
              <a:defRPr sz="2400">
                <a:latin typeface="Calibri" panose="020F0502020204030204" pitchFamily="34" charset="0"/>
                <a:cs typeface="Calibri" panose="020F0502020204030204" pitchFamily="34" charset="0"/>
              </a:defRPr>
            </a:lvl1pPr>
            <a:lvl2pPr marL="685800" lvl="1" indent="-34290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2pPr>
            <a:lvl3pPr marL="857250" lvl="2" indent="-171450" defTabSz="342900">
              <a:spcBef>
                <a:spcPts val="1000"/>
              </a:spcBef>
              <a:spcAft>
                <a:spcPts val="600"/>
              </a:spcAft>
              <a:buClrTx/>
              <a:buSzPct val="100000"/>
              <a:buFont typeface="Arial" panose="020B0604020202020204" pitchFamily="34" charset="0"/>
              <a:buChar char="•"/>
              <a:defRPr sz="2000">
                <a:latin typeface="Calibri" panose="020F0502020204030204" pitchFamily="34" charset="0"/>
                <a:cs typeface="Calibri" panose="020F0502020204030204" pitchFamily="34" charset="0"/>
              </a:defRPr>
            </a:lvl3pPr>
            <a:lvl4pPr marL="1200150" lvl="3"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4pPr>
            <a:lvl5pPr marL="1543050" lvl="4"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lvl="0"/>
            <a:r>
              <a:rPr lang="en-US" dirty="0">
                <a:solidFill>
                  <a:schemeClr val="accent1"/>
                </a:solidFill>
              </a:rPr>
              <a:t>Lab types</a:t>
            </a:r>
          </a:p>
          <a:p>
            <a:pPr lvl="1"/>
            <a:r>
              <a:rPr lang="en-US" dirty="0">
                <a:solidFill>
                  <a:schemeClr val="accent1"/>
                </a:solidFill>
              </a:rPr>
              <a:t>Assisted labs guide you step-by-step through tasks</a:t>
            </a:r>
          </a:p>
          <a:p>
            <a:pPr lvl="1"/>
            <a:r>
              <a:rPr lang="en-US" dirty="0">
                <a:solidFill>
                  <a:schemeClr val="accent1"/>
                </a:solidFill>
              </a:rPr>
              <a:t>Applied labs set goals with limited guidance</a:t>
            </a:r>
          </a:p>
          <a:p>
            <a:pPr lvl="0"/>
            <a:r>
              <a:rPr lang="en-US" dirty="0">
                <a:solidFill>
                  <a:schemeClr val="accent1"/>
                </a:solidFill>
              </a:rPr>
              <a:t>Complete lab</a:t>
            </a:r>
          </a:p>
          <a:p>
            <a:pPr lvl="1"/>
            <a:r>
              <a:rPr lang="en-US" dirty="0">
                <a:solidFill>
                  <a:schemeClr val="accent1"/>
                </a:solidFill>
              </a:rPr>
              <a:t>Submit all items for grading and check each progress box</a:t>
            </a:r>
          </a:p>
          <a:p>
            <a:pPr lvl="1"/>
            <a:r>
              <a:rPr lang="en-US" dirty="0">
                <a:solidFill>
                  <a:schemeClr val="accent1"/>
                </a:solidFill>
              </a:rPr>
              <a:t>Select “Grade Lab” from final page</a:t>
            </a:r>
          </a:p>
          <a:p>
            <a:pPr lvl="0"/>
            <a:r>
              <a:rPr lang="en-US" dirty="0">
                <a:solidFill>
                  <a:schemeClr val="accent1"/>
                </a:solidFill>
              </a:rPr>
              <a:t>Save lab</a:t>
            </a:r>
          </a:p>
          <a:p>
            <a:pPr lvl="1"/>
            <a:r>
              <a:rPr lang="en-US" dirty="0">
                <a:solidFill>
                  <a:schemeClr val="accent1"/>
                </a:solidFill>
              </a:rPr>
              <a:t>Select the hamburger menu and select “Save”</a:t>
            </a:r>
          </a:p>
          <a:p>
            <a:pPr lvl="1"/>
            <a:r>
              <a:rPr lang="en-US" dirty="0">
                <a:solidFill>
                  <a:schemeClr val="accent1"/>
                </a:solidFill>
              </a:rPr>
              <a:t>Save up to two labs in progress for up to 7 days</a:t>
            </a:r>
            <a:endParaRPr lang="en-GB" dirty="0">
              <a:solidFill>
                <a:schemeClr val="accent1"/>
              </a:solidFill>
            </a:endParaRPr>
          </a:p>
          <a:p>
            <a:pPr lvl="0"/>
            <a:r>
              <a:rPr lang="en-US" dirty="0">
                <a:solidFill>
                  <a:schemeClr val="accent1"/>
                </a:solidFill>
              </a:rPr>
              <a:t>Cancel lab without grading</a:t>
            </a:r>
          </a:p>
          <a:p>
            <a:pPr marL="685800" marR="0" lvl="1" indent="-342900"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dirty="0">
                <a:solidFill>
                  <a:schemeClr val="accent1"/>
                </a:solidFill>
              </a:rPr>
              <a:t>Select the hamburger menu and select “End”</a:t>
            </a:r>
          </a:p>
        </p:txBody>
      </p:sp>
      <p:pic>
        <p:nvPicPr>
          <p:cNvPr id="6" name="Graphic 5">
            <a:extLst>
              <a:ext uri="{FF2B5EF4-FFF2-40B4-BE49-F238E27FC236}">
                <a16:creationId xmlns:a16="http://schemas.microsoft.com/office/drawing/2014/main" id="{57BE2E88-1023-417C-91BD-53B87CC9E2B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21421816">
            <a:off x="3988506" y="507806"/>
            <a:ext cx="2225591" cy="575230"/>
          </a:xfrm>
          <a:prstGeom prst="rect">
            <a:avLst/>
          </a:prstGeom>
        </p:spPr>
      </p:pic>
      <p:pic>
        <p:nvPicPr>
          <p:cNvPr id="7" name="Graphic 6">
            <a:extLst>
              <a:ext uri="{FF2B5EF4-FFF2-40B4-BE49-F238E27FC236}">
                <a16:creationId xmlns:a16="http://schemas.microsoft.com/office/drawing/2014/main" id="{21E5D5AE-DD5E-43DF-9E59-06879D1C363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18457" y="2041782"/>
            <a:ext cx="1275893" cy="190500"/>
          </a:xfrm>
          <a:prstGeom prst="rect">
            <a:avLst/>
          </a:prstGeom>
        </p:spPr>
      </p:pic>
      <p:pic>
        <p:nvPicPr>
          <p:cNvPr id="8" name="Graphic 7">
            <a:extLst>
              <a:ext uri="{FF2B5EF4-FFF2-40B4-BE49-F238E27FC236}">
                <a16:creationId xmlns:a16="http://schemas.microsoft.com/office/drawing/2014/main" id="{B3C5ED1D-C224-4E8C-A1A6-7BA094A47E72}"/>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5042424" y="2922609"/>
            <a:ext cx="1694926" cy="422305"/>
          </a:xfrm>
          <a:prstGeom prst="rect">
            <a:avLst/>
          </a:prstGeom>
        </p:spPr>
      </p:pic>
    </p:spTree>
    <p:extLst>
      <p:ext uri="{BB962C8B-B14F-4D97-AF65-F5344CB8AC3E}">
        <p14:creationId xmlns:p14="http://schemas.microsoft.com/office/powerpoint/2010/main" val="3073644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Discover Cloud Vulnerabilities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9D</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9</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933120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Configuring Cloud Assets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 </a:t>
            </a:r>
            <a:r>
              <a:rPr lang="en-US" b="1" dirty="0"/>
              <a:t>cloud federation </a:t>
            </a:r>
            <a:r>
              <a:rPr lang="en-US" dirty="0"/>
              <a:t>is combination of infrastructure, platform services, and software which can increase the risk of attack</a:t>
            </a:r>
          </a:p>
          <a:p>
            <a:pPr lvl="1"/>
            <a:r>
              <a:rPr lang="en-US" dirty="0"/>
              <a:t>The elastic computing power can make it easier for an attacker to run extensive password-cracking algorithms or host a C&amp;C botmaster.</a:t>
            </a:r>
          </a:p>
          <a:p>
            <a:r>
              <a:rPr lang="en-US" dirty="0"/>
              <a:t>The stakeholders will need to identify precisely where responsibilities lie in terms of threat and vulnerability management. </a:t>
            </a:r>
          </a:p>
          <a:p>
            <a:pPr lvl="1"/>
            <a:r>
              <a:rPr lang="en-US" dirty="0"/>
              <a:t>They will need to make sure that the provider reports the outcomes of any security-related auditing to the team.</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1540747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Running Applications in the Cloud</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Applications can be deployed either in a virtualized or containerized environment. </a:t>
            </a:r>
          </a:p>
          <a:p>
            <a:r>
              <a:rPr lang="en-US" dirty="0"/>
              <a:t>Container images can have several vulnerabilities that include:</a:t>
            </a:r>
          </a:p>
          <a:p>
            <a:pPr lvl="1"/>
            <a:r>
              <a:rPr lang="en-US" dirty="0"/>
              <a:t>Embedded malware, missing critical security updates, outdated software</a:t>
            </a:r>
          </a:p>
          <a:p>
            <a:pPr lvl="1"/>
            <a:r>
              <a:rPr lang="en-US" dirty="0"/>
              <a:t>Configuration defects, hand-coded cleartext passwords</a:t>
            </a:r>
          </a:p>
          <a:p>
            <a:r>
              <a:rPr lang="en-US" dirty="0"/>
              <a:t>Prior to deploying a container, the network administrator should test and mitigate any vulnerabilities </a:t>
            </a:r>
          </a:p>
          <a:p>
            <a:pPr lvl="1"/>
            <a:r>
              <a:rPr lang="en-US" dirty="0"/>
              <a:t>Once trusted, preserve the container image.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269955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Understanding Cloud Storage Vulnerabilities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Containers can host objects </a:t>
            </a:r>
          </a:p>
          <a:p>
            <a:pPr lvl="1"/>
            <a:r>
              <a:rPr lang="en-US"/>
              <a:t>Most </a:t>
            </a:r>
            <a:r>
              <a:rPr lang="en-US" dirty="0"/>
              <a:t>have customizable attributes along with methods to control access.</a:t>
            </a:r>
          </a:p>
          <a:p>
            <a:r>
              <a:rPr lang="en-US" dirty="0"/>
              <a:t>It’s essential to properly configure cloud assets, as consumer side configuration misconfigurations can increase risks</a:t>
            </a:r>
          </a:p>
          <a:p>
            <a:pPr lvl="1"/>
            <a:r>
              <a:rPr lang="en-US" dirty="0"/>
              <a:t>Storage is also potentially vulnerable</a:t>
            </a:r>
          </a:p>
          <a:p>
            <a:r>
              <a:rPr lang="en-US" dirty="0"/>
              <a:t>Understand the design of a CSP's storage permissions. </a:t>
            </a:r>
          </a:p>
          <a:p>
            <a:pPr lvl="1"/>
            <a:r>
              <a:rPr lang="en-US" dirty="0"/>
              <a:t>Policies should be created to guide the application of permissions settings so that storage containers and objects are not exposed to unnecessary risk.</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28</a:t>
            </a:fld>
            <a:endParaRPr lang="en-US"/>
          </a:p>
        </p:txBody>
      </p:sp>
    </p:spTree>
    <p:extLst>
      <p:ext uri="{BB962C8B-B14F-4D97-AF65-F5344CB8AC3E}">
        <p14:creationId xmlns:p14="http://schemas.microsoft.com/office/powerpoint/2010/main" val="3527022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Comparing Identity and Account Types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lnSpcReduction="10000"/>
          </a:bodyPr>
          <a:lstStyle/>
          <a:p>
            <a:r>
              <a:rPr lang="en-US" dirty="0"/>
              <a:t>Every unique subject in the organization is identified and associated with an account. The different types include:</a:t>
            </a:r>
          </a:p>
          <a:p>
            <a:pPr lvl="1"/>
            <a:r>
              <a:rPr lang="en-US" dirty="0"/>
              <a:t>Personnel, endpoints, servers, software and roles</a:t>
            </a:r>
          </a:p>
          <a:p>
            <a:r>
              <a:rPr lang="en-US" dirty="0"/>
              <a:t>An IAM system usually contains technical components like directory services and repositories, and access management tools</a:t>
            </a:r>
          </a:p>
          <a:p>
            <a:r>
              <a:rPr lang="en-US" dirty="0"/>
              <a:t>Typical IAM tasks might include:</a:t>
            </a:r>
          </a:p>
          <a:p>
            <a:pPr lvl="2"/>
            <a:r>
              <a:rPr lang="en-US" dirty="0"/>
              <a:t>Auditing account activity, evaluating identity-based threats and vulnerabilities</a:t>
            </a:r>
          </a:p>
          <a:p>
            <a:pPr lvl="2"/>
            <a:r>
              <a:rPr lang="en-US" dirty="0"/>
              <a:t>Maintaining compliance with regulations, and managing accounts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3058932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Recognizing Account Management Risks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Malicious actors target employees to gain access the network. </a:t>
            </a:r>
          </a:p>
          <a:p>
            <a:r>
              <a:rPr lang="en-US" dirty="0"/>
              <a:t>To avoid an attack, provide oversight when using either privileged or shared accounts, as both can represent a vulnerability.</a:t>
            </a:r>
          </a:p>
          <a:p>
            <a:pPr lvl="1"/>
            <a:r>
              <a:rPr lang="en-US" dirty="0"/>
              <a:t>A </a:t>
            </a:r>
            <a:r>
              <a:rPr lang="en-US" b="1" dirty="0"/>
              <a:t>privileged account </a:t>
            </a:r>
            <a:r>
              <a:rPr lang="en-US" dirty="0"/>
              <a:t>allows the user to perform additional tasks</a:t>
            </a:r>
          </a:p>
          <a:p>
            <a:pPr lvl="1"/>
            <a:r>
              <a:rPr lang="en-US" dirty="0"/>
              <a:t>A </a:t>
            </a:r>
            <a:r>
              <a:rPr lang="en-US" b="1" dirty="0"/>
              <a:t>shared account </a:t>
            </a:r>
            <a:r>
              <a:rPr lang="en-US" sz="2100" dirty="0"/>
              <a:t>is when authentication credentials are shared</a:t>
            </a:r>
          </a:p>
          <a:p>
            <a:r>
              <a:rPr lang="en-US" dirty="0"/>
              <a:t>Reduce risk by providing training and education targeted to specific user groups and provide strong access control methods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30</a:t>
            </a:fld>
            <a:endParaRPr lang="en-US"/>
          </a:p>
        </p:txBody>
      </p:sp>
    </p:spTree>
    <p:extLst>
      <p:ext uri="{BB962C8B-B14F-4D97-AF65-F5344CB8AC3E}">
        <p14:creationId xmlns:p14="http://schemas.microsoft.com/office/powerpoint/2010/main" val="32425712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Explain the importance of properly configuring cloud assets.</a:t>
            </a:r>
          </a:p>
          <a:p>
            <a:r>
              <a:rPr lang="en-US" dirty="0"/>
              <a:t>Review how to reduce risks when running applications. </a:t>
            </a:r>
          </a:p>
          <a:p>
            <a:r>
              <a:rPr lang="en-US" dirty="0"/>
              <a:t>Discuss cloud storage vulnerabilities</a:t>
            </a:r>
          </a:p>
          <a:p>
            <a:r>
              <a:rPr lang="en-US" dirty="0"/>
              <a:t>Outlining the different types of identities and account types </a:t>
            </a:r>
          </a:p>
          <a:p>
            <a:r>
              <a:rPr lang="en-US" dirty="0"/>
              <a:t>Describe potential risks when dealing with account management</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Discover Cloud Vulnerabilities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31</a:t>
            </a:fld>
            <a:endParaRPr lang="en-US"/>
          </a:p>
        </p:txBody>
      </p:sp>
    </p:spTree>
    <p:extLst>
      <p:ext uri="{BB962C8B-B14F-4D97-AF65-F5344CB8AC3E}">
        <p14:creationId xmlns:p14="http://schemas.microsoft.com/office/powerpoint/2010/main" val="3037773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5AF4-7AED-4A32-8826-AA455EAA7711}"/>
              </a:ext>
            </a:extLst>
          </p:cNvPr>
          <p:cNvSpPr>
            <a:spLocks noGrp="1"/>
          </p:cNvSpPr>
          <p:nvPr>
            <p:ph type="ctrTitle"/>
          </p:nvPr>
        </p:nvSpPr>
        <p:spPr/>
        <p:txBody>
          <a:bodyPr/>
          <a:lstStyle/>
          <a:p>
            <a:r>
              <a:rPr lang="en-US" dirty="0"/>
              <a:t>Explore Cloud-Based Attacks</a:t>
            </a:r>
          </a:p>
        </p:txBody>
      </p:sp>
      <p:sp>
        <p:nvSpPr>
          <p:cNvPr id="3" name="Subtitle 2">
            <a:extLst>
              <a:ext uri="{FF2B5EF4-FFF2-40B4-BE49-F238E27FC236}">
                <a16:creationId xmlns:a16="http://schemas.microsoft.com/office/drawing/2014/main" id="{1C09A606-AC3C-4FE5-B558-E5DD82C0A761}"/>
              </a:ext>
            </a:extLst>
          </p:cNvPr>
          <p:cNvSpPr>
            <a:spLocks noGrp="1"/>
          </p:cNvSpPr>
          <p:nvPr>
            <p:ph type="subTitle" idx="1"/>
          </p:nvPr>
        </p:nvSpPr>
        <p:spPr/>
        <p:txBody>
          <a:bodyPr/>
          <a:lstStyle/>
          <a:p>
            <a:r>
              <a:rPr lang="en-US" dirty="0"/>
              <a:t>Topic 9E</a:t>
            </a:r>
          </a:p>
        </p:txBody>
      </p:sp>
      <p:sp>
        <p:nvSpPr>
          <p:cNvPr id="4" name="Text Placeholder 3">
            <a:extLst>
              <a:ext uri="{FF2B5EF4-FFF2-40B4-BE49-F238E27FC236}">
                <a16:creationId xmlns:a16="http://schemas.microsoft.com/office/drawing/2014/main" id="{6F8820F5-6357-429C-9E9F-7ADBB5B6CA98}"/>
              </a:ext>
            </a:extLst>
          </p:cNvPr>
          <p:cNvSpPr>
            <a:spLocks noGrp="1"/>
          </p:cNvSpPr>
          <p:nvPr>
            <p:ph type="body" sz="quarter" idx="12"/>
          </p:nvPr>
        </p:nvSpPr>
        <p:spPr/>
        <p:txBody>
          <a:bodyPr/>
          <a:lstStyle/>
          <a:p>
            <a:r>
              <a:rPr lang="en-US" dirty="0"/>
              <a:t>Lesson 9</a:t>
            </a:r>
          </a:p>
        </p:txBody>
      </p:sp>
      <p:sp>
        <p:nvSpPr>
          <p:cNvPr id="5" name="Slide Number Placeholder 4">
            <a:extLst>
              <a:ext uri="{FF2B5EF4-FFF2-40B4-BE49-F238E27FC236}">
                <a16:creationId xmlns:a16="http://schemas.microsoft.com/office/drawing/2014/main" id="{073BEE37-D7CF-4ED1-B9E2-10B1F8A4D79E}"/>
              </a:ext>
            </a:extLst>
          </p:cNvPr>
          <p:cNvSpPr>
            <a:spLocks noGrp="1"/>
          </p:cNvSpPr>
          <p:nvPr>
            <p:ph type="sldNum" sz="quarter" idx="10"/>
          </p:nvPr>
        </p:nvSpPr>
        <p:spPr/>
        <p:txBody>
          <a:bodyPr/>
          <a:lstStyle/>
          <a:p>
            <a:fld id="{B7CF8A19-3A9E-4ABC-B336-2FDDE321C72D}" type="slidenum">
              <a:rPr lang="en-US" smtClean="0"/>
              <a:pPr/>
              <a:t>32</a:t>
            </a:fld>
            <a:endParaRPr lang="en-US"/>
          </a:p>
        </p:txBody>
      </p:sp>
    </p:spTree>
    <p:extLst>
      <p:ext uri="{BB962C8B-B14F-4D97-AF65-F5344CB8AC3E}">
        <p14:creationId xmlns:p14="http://schemas.microsoft.com/office/powerpoint/2010/main" val="2685729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Attacking the Cloud</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The cloud is vulnerable to the same types of attacks that affect many applications. </a:t>
            </a:r>
          </a:p>
          <a:p>
            <a:pPr lvl="1"/>
            <a:r>
              <a:rPr lang="en-US" dirty="0"/>
              <a:t>Attacks against delivery models such as SaaS, can result in a data breach. </a:t>
            </a:r>
          </a:p>
          <a:p>
            <a:r>
              <a:rPr lang="en-US" dirty="0"/>
              <a:t>In addition to the financial impact of recovery fees and/or loss of intellectual property, a company can face fines and legal action.</a:t>
            </a:r>
          </a:p>
          <a:p>
            <a:r>
              <a:rPr lang="en-US" dirty="0"/>
              <a:t>Attacks include:</a:t>
            </a:r>
          </a:p>
          <a:p>
            <a:pPr lvl="1"/>
            <a:r>
              <a:rPr lang="en-US" dirty="0"/>
              <a:t>Malware injection attack, side-channel attacks, and direct-to-origin attacks</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33</a:t>
            </a:fld>
            <a:endParaRPr lang="en-US"/>
          </a:p>
        </p:txBody>
      </p:sp>
    </p:spTree>
    <p:extLst>
      <p:ext uri="{BB962C8B-B14F-4D97-AF65-F5344CB8AC3E}">
        <p14:creationId xmlns:p14="http://schemas.microsoft.com/office/powerpoint/2010/main" val="3541867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Harvesting Credentials</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lnSpcReduction="10000"/>
          </a:bodyPr>
          <a:lstStyle/>
          <a:p>
            <a:r>
              <a:rPr lang="en-US" dirty="0"/>
              <a:t>Steal usernames and passwords with the goal of escalating privilege </a:t>
            </a:r>
          </a:p>
          <a:p>
            <a:pPr lvl="1"/>
            <a:r>
              <a:rPr lang="en-US" dirty="0"/>
              <a:t>To take control, access/change files, and open a backdoor.</a:t>
            </a:r>
          </a:p>
          <a:p>
            <a:r>
              <a:rPr lang="en-US" dirty="0"/>
              <a:t>Several types of attacks can elevate privilege by taking advantage of services, drivers, and apps running in SYSTEM or admin privilege. </a:t>
            </a:r>
          </a:p>
          <a:p>
            <a:r>
              <a:rPr lang="en-US" dirty="0"/>
              <a:t>Some examples of methods to elevate privilege include:</a:t>
            </a:r>
          </a:p>
          <a:p>
            <a:pPr lvl="1"/>
            <a:r>
              <a:rPr lang="en-US" b="1" dirty="0"/>
              <a:t>Weak process permissions </a:t>
            </a:r>
            <a:r>
              <a:rPr lang="en-US" dirty="0"/>
              <a:t>- Find processes with weak controls and then see if you can inject malicious code into those processes.</a:t>
            </a:r>
          </a:p>
          <a:p>
            <a:pPr lvl="1"/>
            <a:r>
              <a:rPr lang="en-US" b="1" dirty="0"/>
              <a:t>Missing patches and misconfigurations </a:t>
            </a:r>
            <a:r>
              <a:rPr lang="en-US" dirty="0"/>
              <a:t>- Search for missing patches or common misconfigurations that can lead to privilege escalation.</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34</a:t>
            </a:fld>
            <a:endParaRPr lang="en-US"/>
          </a:p>
        </p:txBody>
      </p:sp>
    </p:spTree>
    <p:extLst>
      <p:ext uri="{BB962C8B-B14F-4D97-AF65-F5344CB8AC3E}">
        <p14:creationId xmlns:p14="http://schemas.microsoft.com/office/powerpoint/2010/main" val="1586152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Denying Service</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lstStyle/>
          <a:p>
            <a:r>
              <a:rPr lang="en-US" dirty="0"/>
              <a:t>A DoS attack can target a protocol, device, OS, or service. The results of a DoS attack will depend on the affected system.</a:t>
            </a:r>
          </a:p>
          <a:p>
            <a:pPr lvl="1"/>
            <a:r>
              <a:rPr lang="en-US" dirty="0"/>
              <a:t>An attack against a server will consume all resources, including CPU, memory, disk space, and can lock out legitimate users.</a:t>
            </a:r>
          </a:p>
          <a:p>
            <a:pPr lvl="1"/>
            <a:r>
              <a:rPr lang="en-US" dirty="0"/>
              <a:t>A related attack is resource exhaustion, which consumes system resources. </a:t>
            </a:r>
          </a:p>
          <a:p>
            <a:r>
              <a:rPr lang="en-US" dirty="0"/>
              <a:t>Some examples of DoS attack types and tools:</a:t>
            </a:r>
          </a:p>
          <a:p>
            <a:pPr lvl="1"/>
            <a:r>
              <a:rPr lang="en-US" b="1" dirty="0"/>
              <a:t>Attacks:</a:t>
            </a:r>
            <a:r>
              <a:rPr lang="en-US" dirty="0"/>
              <a:t> Packet flood, Slowloris, HTTP flood and DNS amplification </a:t>
            </a:r>
          </a:p>
          <a:p>
            <a:pPr lvl="1"/>
            <a:r>
              <a:rPr lang="en-US" b="1" dirty="0"/>
              <a:t>Tools:</a:t>
            </a:r>
            <a:r>
              <a:rPr lang="en-US" dirty="0"/>
              <a:t> Nmap, Slowloris script, R-U-Dead-Yet (RUDY) and Hyenae</a:t>
            </a:r>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35</a:t>
            </a:fld>
            <a:endParaRPr lang="en-US"/>
          </a:p>
        </p:txBody>
      </p:sp>
    </p:spTree>
    <p:extLst>
      <p:ext uri="{BB962C8B-B14F-4D97-AF65-F5344CB8AC3E}">
        <p14:creationId xmlns:p14="http://schemas.microsoft.com/office/powerpoint/2010/main" val="2982755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08E-4083-4962-9240-C5792BEC3394}"/>
              </a:ext>
            </a:extLst>
          </p:cNvPr>
          <p:cNvSpPr>
            <a:spLocks noGrp="1"/>
          </p:cNvSpPr>
          <p:nvPr>
            <p:ph type="title"/>
          </p:nvPr>
        </p:nvSpPr>
        <p:spPr/>
        <p:txBody>
          <a:bodyPr/>
          <a:lstStyle/>
          <a:p>
            <a:r>
              <a:rPr lang="en-US" dirty="0"/>
              <a:t>Auditing the Cloud</a:t>
            </a:r>
          </a:p>
        </p:txBody>
      </p:sp>
      <p:sp>
        <p:nvSpPr>
          <p:cNvPr id="3" name="Content Placeholder 2">
            <a:extLst>
              <a:ext uri="{FF2B5EF4-FFF2-40B4-BE49-F238E27FC236}">
                <a16:creationId xmlns:a16="http://schemas.microsoft.com/office/drawing/2014/main" id="{D265882B-10E2-446D-A76D-9CAE7BFA8BE6}"/>
              </a:ext>
            </a:extLst>
          </p:cNvPr>
          <p:cNvSpPr>
            <a:spLocks noGrp="1"/>
          </p:cNvSpPr>
          <p:nvPr>
            <p:ph idx="1"/>
          </p:nvPr>
        </p:nvSpPr>
        <p:spPr/>
        <p:txBody>
          <a:bodyPr>
            <a:normAutofit/>
          </a:bodyPr>
          <a:lstStyle/>
          <a:p>
            <a:r>
              <a:rPr lang="en-US" dirty="0"/>
              <a:t>Today, there are several tools available to perform automated vulnerability scanning and PenTesting on cloud assets:</a:t>
            </a:r>
          </a:p>
          <a:p>
            <a:pPr lvl="1"/>
            <a:r>
              <a:rPr lang="en-US" b="1" dirty="0"/>
              <a:t>ScoutSuite</a:t>
            </a:r>
            <a:r>
              <a:rPr lang="en-US" dirty="0"/>
              <a:t> is an open-source tool written in Python that can be used to audit instances and policies created on multicloud platforms</a:t>
            </a:r>
          </a:p>
          <a:p>
            <a:pPr lvl="1"/>
            <a:r>
              <a:rPr lang="en-US" b="1" dirty="0"/>
              <a:t>Prowler</a:t>
            </a:r>
            <a:r>
              <a:rPr lang="en-US" dirty="0"/>
              <a:t> is an audit tool for use with Amazon Web Services only. </a:t>
            </a:r>
          </a:p>
          <a:p>
            <a:pPr lvl="1"/>
            <a:r>
              <a:rPr lang="en-US" b="1" dirty="0"/>
              <a:t>Pacu</a:t>
            </a:r>
            <a:r>
              <a:rPr lang="en-US" dirty="0"/>
              <a:t> is designed as an exploitation framework to assess the security configuration of an AWS account. </a:t>
            </a:r>
          </a:p>
          <a:p>
            <a:pPr lvl="1"/>
            <a:r>
              <a:rPr lang="en-US" b="1" dirty="0"/>
              <a:t>Cloud custodian </a:t>
            </a:r>
            <a:r>
              <a:rPr lang="en-US" dirty="0"/>
              <a:t>is a management tool designed to help the administrator create policies based on resource types. </a:t>
            </a:r>
          </a:p>
          <a:p>
            <a:endParaRPr lang="en-US" dirty="0"/>
          </a:p>
        </p:txBody>
      </p:sp>
      <p:sp>
        <p:nvSpPr>
          <p:cNvPr id="4" name="Slide Number Placeholder 3">
            <a:extLst>
              <a:ext uri="{FF2B5EF4-FFF2-40B4-BE49-F238E27FC236}">
                <a16:creationId xmlns:a16="http://schemas.microsoft.com/office/drawing/2014/main" id="{B9412E95-C28E-4651-8C6C-3FC7371BF57A}"/>
              </a:ext>
            </a:extLst>
          </p:cNvPr>
          <p:cNvSpPr>
            <a:spLocks noGrp="1"/>
          </p:cNvSpPr>
          <p:nvPr>
            <p:ph type="sldNum" sz="quarter" idx="10"/>
          </p:nvPr>
        </p:nvSpPr>
        <p:spPr/>
        <p:txBody>
          <a:bodyPr/>
          <a:lstStyle/>
          <a:p>
            <a:fld id="{B7CF8A19-3A9E-4ABC-B336-2FDDE321C72D}" type="slidenum">
              <a:rPr lang="en-US" smtClean="0"/>
              <a:pPr/>
              <a:t>36</a:t>
            </a:fld>
            <a:endParaRPr lang="en-US"/>
          </a:p>
        </p:txBody>
      </p:sp>
    </p:spTree>
    <p:extLst>
      <p:ext uri="{BB962C8B-B14F-4D97-AF65-F5344CB8AC3E}">
        <p14:creationId xmlns:p14="http://schemas.microsoft.com/office/powerpoint/2010/main" val="28628975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910985-B36C-4A8C-8F00-496036FF49CE}"/>
              </a:ext>
            </a:extLst>
          </p:cNvPr>
          <p:cNvSpPr>
            <a:spLocks noGrp="1"/>
          </p:cNvSpPr>
          <p:nvPr>
            <p:ph sz="quarter" idx="11"/>
          </p:nvPr>
        </p:nvSpPr>
        <p:spPr/>
        <p:txBody>
          <a:bodyPr/>
          <a:lstStyle/>
          <a:p>
            <a:r>
              <a:rPr lang="en-US" dirty="0"/>
              <a:t>Describe some of the attacks on cloud resources.</a:t>
            </a:r>
          </a:p>
          <a:p>
            <a:r>
              <a:rPr lang="en-US" dirty="0"/>
              <a:t>Review the goal of harvesting credentials</a:t>
            </a:r>
          </a:p>
          <a:p>
            <a:r>
              <a:rPr lang="en-US" dirty="0"/>
              <a:t>Discuss methods to achieve privilege escalation.</a:t>
            </a:r>
          </a:p>
          <a:p>
            <a:r>
              <a:rPr lang="en-US" dirty="0"/>
              <a:t>Explain the effect of a DOS attack and list some examples of attacks and tools used to launch the attack</a:t>
            </a:r>
          </a:p>
          <a:p>
            <a:r>
              <a:rPr lang="en-US" dirty="0"/>
              <a:t>List tools available to perform automated vulnerability scanning and PenTesting on cloud assets</a:t>
            </a:r>
          </a:p>
        </p:txBody>
      </p:sp>
      <p:sp>
        <p:nvSpPr>
          <p:cNvPr id="3" name="Title 2">
            <a:extLst>
              <a:ext uri="{FF2B5EF4-FFF2-40B4-BE49-F238E27FC236}">
                <a16:creationId xmlns:a16="http://schemas.microsoft.com/office/drawing/2014/main" id="{741BF6B6-2A64-4049-9A00-5F58CF8B2C57}"/>
              </a:ext>
            </a:extLst>
          </p:cNvPr>
          <p:cNvSpPr>
            <a:spLocks noGrp="1"/>
          </p:cNvSpPr>
          <p:nvPr>
            <p:ph type="title"/>
          </p:nvPr>
        </p:nvSpPr>
        <p:spPr/>
        <p:txBody>
          <a:bodyPr/>
          <a:lstStyle/>
          <a:p>
            <a:r>
              <a:rPr lang="en-US" dirty="0"/>
              <a:t>Explore Cloud-Based Attacks</a:t>
            </a:r>
          </a:p>
        </p:txBody>
      </p:sp>
      <p:sp>
        <p:nvSpPr>
          <p:cNvPr id="4" name="Slide Number Placeholder 3">
            <a:extLst>
              <a:ext uri="{FF2B5EF4-FFF2-40B4-BE49-F238E27FC236}">
                <a16:creationId xmlns:a16="http://schemas.microsoft.com/office/drawing/2014/main" id="{BCBA93A8-0B2C-4C9B-8D0F-9591D5A4C4FE}"/>
              </a:ext>
            </a:extLst>
          </p:cNvPr>
          <p:cNvSpPr>
            <a:spLocks noGrp="1"/>
          </p:cNvSpPr>
          <p:nvPr>
            <p:ph type="sldNum" sz="quarter" idx="12"/>
          </p:nvPr>
        </p:nvSpPr>
        <p:spPr/>
        <p:txBody>
          <a:bodyPr/>
          <a:lstStyle/>
          <a:p>
            <a:fld id="{B7CF8A19-3A9E-4ABC-B336-2FDDE321C72D}" type="slidenum">
              <a:rPr lang="en-US" smtClean="0"/>
              <a:pPr/>
              <a:t>37</a:t>
            </a:fld>
            <a:endParaRPr lang="en-US"/>
          </a:p>
        </p:txBody>
      </p:sp>
    </p:spTree>
    <p:extLst>
      <p:ext uri="{BB962C8B-B14F-4D97-AF65-F5344CB8AC3E}">
        <p14:creationId xmlns:p14="http://schemas.microsoft.com/office/powerpoint/2010/main" val="2553022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159B2B-48E2-4647-ABDD-6BF7993BECA5}"/>
              </a:ext>
            </a:extLst>
          </p:cNvPr>
          <p:cNvSpPr>
            <a:spLocks noGrp="1"/>
          </p:cNvSpPr>
          <p:nvPr>
            <p:ph type="sldNum" sz="quarter" idx="13"/>
          </p:nvPr>
        </p:nvSpPr>
        <p:spPr/>
        <p:txBody>
          <a:bodyPr/>
          <a:lstStyle/>
          <a:p>
            <a:fld id="{B7CF8A19-3A9E-4ABC-B336-2FDDE321C72D}" type="slidenum">
              <a:rPr lang="en-US" smtClean="0"/>
              <a:pPr/>
              <a:t>38</a:t>
            </a:fld>
            <a:endParaRPr lang="en-US"/>
          </a:p>
        </p:txBody>
      </p:sp>
      <p:sp>
        <p:nvSpPr>
          <p:cNvPr id="3" name="Content Placeholder 2">
            <a:extLst>
              <a:ext uri="{FF2B5EF4-FFF2-40B4-BE49-F238E27FC236}">
                <a16:creationId xmlns:a16="http://schemas.microsoft.com/office/drawing/2014/main" id="{568708AE-48ED-4852-AE39-86C44E3C3102}"/>
              </a:ext>
            </a:extLst>
          </p:cNvPr>
          <p:cNvSpPr>
            <a:spLocks noGrp="1"/>
          </p:cNvSpPr>
          <p:nvPr>
            <p:ph sz="quarter" idx="14"/>
          </p:nvPr>
        </p:nvSpPr>
        <p:spPr>
          <a:xfrm>
            <a:off x="146050" y="748621"/>
            <a:ext cx="3742072" cy="4044357"/>
          </a:xfrm>
        </p:spPr>
        <p:txBody>
          <a:bodyPr/>
          <a:lstStyle/>
          <a:p>
            <a:pPr marL="0" indent="0">
              <a:buNone/>
            </a:pPr>
            <a:r>
              <a:rPr lang="en-US" sz="1800" b="0" i="0" u="none" strike="noStrike" dirty="0">
                <a:solidFill>
                  <a:srgbClr val="000000"/>
                </a:solidFill>
                <a:effectLst/>
                <a:latin typeface="Calibri" panose="020F0502020204030204" pitchFamily="34" charset="0"/>
              </a:rPr>
              <a:t>APPLIED Lab: Using VSFTP Manual and Metasploit</a:t>
            </a:r>
            <a:r>
              <a:rPr lang="en-US" sz="1400" dirty="0"/>
              <a:t> </a:t>
            </a:r>
            <a:endParaRPr lang="en-US" dirty="0"/>
          </a:p>
        </p:txBody>
      </p:sp>
      <p:sp>
        <p:nvSpPr>
          <p:cNvPr id="5" name="TextBox 4">
            <a:extLst>
              <a:ext uri="{FF2B5EF4-FFF2-40B4-BE49-F238E27FC236}">
                <a16:creationId xmlns:a16="http://schemas.microsoft.com/office/drawing/2014/main" id="{913E43AC-45A4-4D84-834A-CE8499000767}"/>
              </a:ext>
            </a:extLst>
          </p:cNvPr>
          <p:cNvSpPr txBox="1"/>
          <p:nvPr/>
        </p:nvSpPr>
        <p:spPr>
          <a:xfrm>
            <a:off x="3975101" y="742950"/>
            <a:ext cx="5120843" cy="3986972"/>
          </a:xfrm>
          <a:custGeom>
            <a:avLst/>
            <a:gdLst>
              <a:gd name="connsiteX0" fmla="*/ 0 w 5120843"/>
              <a:gd name="connsiteY0" fmla="*/ 0 h 3986972"/>
              <a:gd name="connsiteX1" fmla="*/ 620191 w 5120843"/>
              <a:gd name="connsiteY1" fmla="*/ 0 h 3986972"/>
              <a:gd name="connsiteX2" fmla="*/ 1035548 w 5120843"/>
              <a:gd name="connsiteY2" fmla="*/ 0 h 3986972"/>
              <a:gd name="connsiteX3" fmla="*/ 1655739 w 5120843"/>
              <a:gd name="connsiteY3" fmla="*/ 0 h 3986972"/>
              <a:gd name="connsiteX4" fmla="*/ 2173513 w 5120843"/>
              <a:gd name="connsiteY4" fmla="*/ 0 h 3986972"/>
              <a:gd name="connsiteX5" fmla="*/ 2793704 w 5120843"/>
              <a:gd name="connsiteY5" fmla="*/ 0 h 3986972"/>
              <a:gd name="connsiteX6" fmla="*/ 3260270 w 5120843"/>
              <a:gd name="connsiteY6" fmla="*/ 0 h 3986972"/>
              <a:gd name="connsiteX7" fmla="*/ 3931669 w 5120843"/>
              <a:gd name="connsiteY7" fmla="*/ 0 h 3986972"/>
              <a:gd name="connsiteX8" fmla="*/ 4603069 w 5120843"/>
              <a:gd name="connsiteY8" fmla="*/ 0 h 3986972"/>
              <a:gd name="connsiteX9" fmla="*/ 5120843 w 5120843"/>
              <a:gd name="connsiteY9" fmla="*/ 0 h 3986972"/>
              <a:gd name="connsiteX10" fmla="*/ 5120843 w 5120843"/>
              <a:gd name="connsiteY10" fmla="*/ 489828 h 3986972"/>
              <a:gd name="connsiteX11" fmla="*/ 5120843 w 5120843"/>
              <a:gd name="connsiteY11" fmla="*/ 1139135 h 3986972"/>
              <a:gd name="connsiteX12" fmla="*/ 5120843 w 5120843"/>
              <a:gd name="connsiteY12" fmla="*/ 1788442 h 3986972"/>
              <a:gd name="connsiteX13" fmla="*/ 5120843 w 5120843"/>
              <a:gd name="connsiteY13" fmla="*/ 2437749 h 3986972"/>
              <a:gd name="connsiteX14" fmla="*/ 5120843 w 5120843"/>
              <a:gd name="connsiteY14" fmla="*/ 2887707 h 3986972"/>
              <a:gd name="connsiteX15" fmla="*/ 5120843 w 5120843"/>
              <a:gd name="connsiteY15" fmla="*/ 3377535 h 3986972"/>
              <a:gd name="connsiteX16" fmla="*/ 5120843 w 5120843"/>
              <a:gd name="connsiteY16" fmla="*/ 3986972 h 3986972"/>
              <a:gd name="connsiteX17" fmla="*/ 4500652 w 5120843"/>
              <a:gd name="connsiteY17" fmla="*/ 3986972 h 3986972"/>
              <a:gd name="connsiteX18" fmla="*/ 4034086 w 5120843"/>
              <a:gd name="connsiteY18" fmla="*/ 3986972 h 3986972"/>
              <a:gd name="connsiteX19" fmla="*/ 3362687 w 5120843"/>
              <a:gd name="connsiteY19" fmla="*/ 3986972 h 3986972"/>
              <a:gd name="connsiteX20" fmla="*/ 2691287 w 5120843"/>
              <a:gd name="connsiteY20" fmla="*/ 3986972 h 3986972"/>
              <a:gd name="connsiteX21" fmla="*/ 2224722 w 5120843"/>
              <a:gd name="connsiteY21" fmla="*/ 3986972 h 3986972"/>
              <a:gd name="connsiteX22" fmla="*/ 1809365 w 5120843"/>
              <a:gd name="connsiteY22" fmla="*/ 3986972 h 3986972"/>
              <a:gd name="connsiteX23" fmla="*/ 1394007 w 5120843"/>
              <a:gd name="connsiteY23" fmla="*/ 3986972 h 3986972"/>
              <a:gd name="connsiteX24" fmla="*/ 876233 w 5120843"/>
              <a:gd name="connsiteY24" fmla="*/ 3986972 h 3986972"/>
              <a:gd name="connsiteX25" fmla="*/ 0 w 5120843"/>
              <a:gd name="connsiteY25" fmla="*/ 3986972 h 3986972"/>
              <a:gd name="connsiteX26" fmla="*/ 0 w 5120843"/>
              <a:gd name="connsiteY26" fmla="*/ 3457274 h 3986972"/>
              <a:gd name="connsiteX27" fmla="*/ 0 w 5120843"/>
              <a:gd name="connsiteY27" fmla="*/ 2927577 h 3986972"/>
              <a:gd name="connsiteX28" fmla="*/ 0 w 5120843"/>
              <a:gd name="connsiteY28" fmla="*/ 2278270 h 3986972"/>
              <a:gd name="connsiteX29" fmla="*/ 0 w 5120843"/>
              <a:gd name="connsiteY29" fmla="*/ 1748572 h 3986972"/>
              <a:gd name="connsiteX30" fmla="*/ 0 w 5120843"/>
              <a:gd name="connsiteY30" fmla="*/ 1298614 h 3986972"/>
              <a:gd name="connsiteX31" fmla="*/ 0 w 5120843"/>
              <a:gd name="connsiteY31" fmla="*/ 768916 h 3986972"/>
              <a:gd name="connsiteX32" fmla="*/ 0 w 5120843"/>
              <a:gd name="connsiteY32" fmla="*/ 0 h 398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20843" h="3986972" fill="none" extrusionOk="0">
                <a:moveTo>
                  <a:pt x="0" y="0"/>
                </a:moveTo>
                <a:cubicBezTo>
                  <a:pt x="181082" y="-44144"/>
                  <a:pt x="332351" y="17296"/>
                  <a:pt x="620191" y="0"/>
                </a:cubicBezTo>
                <a:cubicBezTo>
                  <a:pt x="908031" y="-17296"/>
                  <a:pt x="913865" y="31805"/>
                  <a:pt x="1035548" y="0"/>
                </a:cubicBezTo>
                <a:cubicBezTo>
                  <a:pt x="1157231" y="-31805"/>
                  <a:pt x="1401820" y="28595"/>
                  <a:pt x="1655739" y="0"/>
                </a:cubicBezTo>
                <a:cubicBezTo>
                  <a:pt x="1909658" y="-28595"/>
                  <a:pt x="2005301" y="20107"/>
                  <a:pt x="2173513" y="0"/>
                </a:cubicBezTo>
                <a:cubicBezTo>
                  <a:pt x="2341725" y="-20107"/>
                  <a:pt x="2581271" y="43917"/>
                  <a:pt x="2793704" y="0"/>
                </a:cubicBezTo>
                <a:cubicBezTo>
                  <a:pt x="3006137" y="-43917"/>
                  <a:pt x="3042637" y="10045"/>
                  <a:pt x="3260270" y="0"/>
                </a:cubicBezTo>
                <a:cubicBezTo>
                  <a:pt x="3477903" y="-10045"/>
                  <a:pt x="3644284" y="77189"/>
                  <a:pt x="3931669" y="0"/>
                </a:cubicBezTo>
                <a:cubicBezTo>
                  <a:pt x="4219054" y="-77189"/>
                  <a:pt x="4316130" y="46666"/>
                  <a:pt x="4603069" y="0"/>
                </a:cubicBezTo>
                <a:cubicBezTo>
                  <a:pt x="4890008" y="-46666"/>
                  <a:pt x="4998350" y="36197"/>
                  <a:pt x="5120843" y="0"/>
                </a:cubicBezTo>
                <a:cubicBezTo>
                  <a:pt x="5128488" y="186839"/>
                  <a:pt x="5112671" y="254479"/>
                  <a:pt x="5120843" y="489828"/>
                </a:cubicBezTo>
                <a:cubicBezTo>
                  <a:pt x="5129015" y="725177"/>
                  <a:pt x="5060647" y="965704"/>
                  <a:pt x="5120843" y="1139135"/>
                </a:cubicBezTo>
                <a:cubicBezTo>
                  <a:pt x="5181039" y="1312566"/>
                  <a:pt x="5049372" y="1539935"/>
                  <a:pt x="5120843" y="1788442"/>
                </a:cubicBezTo>
                <a:cubicBezTo>
                  <a:pt x="5192314" y="2036949"/>
                  <a:pt x="5061265" y="2214741"/>
                  <a:pt x="5120843" y="2437749"/>
                </a:cubicBezTo>
                <a:cubicBezTo>
                  <a:pt x="5180421" y="2660757"/>
                  <a:pt x="5078268" y="2666755"/>
                  <a:pt x="5120843" y="2887707"/>
                </a:cubicBezTo>
                <a:cubicBezTo>
                  <a:pt x="5163418" y="3108659"/>
                  <a:pt x="5103872" y="3212463"/>
                  <a:pt x="5120843" y="3377535"/>
                </a:cubicBezTo>
                <a:cubicBezTo>
                  <a:pt x="5137814" y="3542607"/>
                  <a:pt x="5090777" y="3838116"/>
                  <a:pt x="5120843" y="3986972"/>
                </a:cubicBezTo>
                <a:cubicBezTo>
                  <a:pt x="4958232" y="4008270"/>
                  <a:pt x="4738321" y="3954766"/>
                  <a:pt x="4500652" y="3986972"/>
                </a:cubicBezTo>
                <a:cubicBezTo>
                  <a:pt x="4262983" y="4019178"/>
                  <a:pt x="4225098" y="3932484"/>
                  <a:pt x="4034086" y="3986972"/>
                </a:cubicBezTo>
                <a:cubicBezTo>
                  <a:pt x="3843074" y="4041460"/>
                  <a:pt x="3602078" y="3914575"/>
                  <a:pt x="3362687" y="3986972"/>
                </a:cubicBezTo>
                <a:cubicBezTo>
                  <a:pt x="3123296" y="4059369"/>
                  <a:pt x="2951314" y="3919249"/>
                  <a:pt x="2691287" y="3986972"/>
                </a:cubicBezTo>
                <a:cubicBezTo>
                  <a:pt x="2431260" y="4054695"/>
                  <a:pt x="2350391" y="3956158"/>
                  <a:pt x="2224722" y="3986972"/>
                </a:cubicBezTo>
                <a:cubicBezTo>
                  <a:pt x="2099054" y="4017786"/>
                  <a:pt x="1991047" y="3955209"/>
                  <a:pt x="1809365" y="3986972"/>
                </a:cubicBezTo>
                <a:cubicBezTo>
                  <a:pt x="1627683" y="4018735"/>
                  <a:pt x="1518268" y="3941113"/>
                  <a:pt x="1394007" y="3986972"/>
                </a:cubicBezTo>
                <a:cubicBezTo>
                  <a:pt x="1269746" y="4032831"/>
                  <a:pt x="1001496" y="3974555"/>
                  <a:pt x="876233" y="3986972"/>
                </a:cubicBezTo>
                <a:cubicBezTo>
                  <a:pt x="750970" y="3999389"/>
                  <a:pt x="342774" y="3907284"/>
                  <a:pt x="0" y="3986972"/>
                </a:cubicBezTo>
                <a:cubicBezTo>
                  <a:pt x="-41093" y="3761640"/>
                  <a:pt x="12633" y="3591114"/>
                  <a:pt x="0" y="3457274"/>
                </a:cubicBezTo>
                <a:cubicBezTo>
                  <a:pt x="-12633" y="3323434"/>
                  <a:pt x="53828" y="3048359"/>
                  <a:pt x="0" y="2927577"/>
                </a:cubicBezTo>
                <a:cubicBezTo>
                  <a:pt x="-53828" y="2806795"/>
                  <a:pt x="22417" y="2456264"/>
                  <a:pt x="0" y="2278270"/>
                </a:cubicBezTo>
                <a:cubicBezTo>
                  <a:pt x="-22417" y="2100276"/>
                  <a:pt x="52072" y="1993161"/>
                  <a:pt x="0" y="1748572"/>
                </a:cubicBezTo>
                <a:cubicBezTo>
                  <a:pt x="-52072" y="1503983"/>
                  <a:pt x="23634" y="1446189"/>
                  <a:pt x="0" y="1298614"/>
                </a:cubicBezTo>
                <a:cubicBezTo>
                  <a:pt x="-23634" y="1151039"/>
                  <a:pt x="2064" y="1023762"/>
                  <a:pt x="0" y="768916"/>
                </a:cubicBezTo>
                <a:cubicBezTo>
                  <a:pt x="-2064" y="514070"/>
                  <a:pt x="41086" y="192150"/>
                  <a:pt x="0" y="0"/>
                </a:cubicBezTo>
                <a:close/>
              </a:path>
              <a:path w="5120843" h="3986972" stroke="0" extrusionOk="0">
                <a:moveTo>
                  <a:pt x="0" y="0"/>
                </a:moveTo>
                <a:cubicBezTo>
                  <a:pt x="196917" y="-3664"/>
                  <a:pt x="331007" y="36965"/>
                  <a:pt x="568983" y="0"/>
                </a:cubicBezTo>
                <a:cubicBezTo>
                  <a:pt x="806959" y="-36965"/>
                  <a:pt x="895566" y="12616"/>
                  <a:pt x="1137965" y="0"/>
                </a:cubicBezTo>
                <a:cubicBezTo>
                  <a:pt x="1380364" y="-12616"/>
                  <a:pt x="1373421" y="28097"/>
                  <a:pt x="1604531" y="0"/>
                </a:cubicBezTo>
                <a:cubicBezTo>
                  <a:pt x="1835641" y="-28097"/>
                  <a:pt x="1991050" y="62516"/>
                  <a:pt x="2275930" y="0"/>
                </a:cubicBezTo>
                <a:cubicBezTo>
                  <a:pt x="2560810" y="-62516"/>
                  <a:pt x="2764877" y="24309"/>
                  <a:pt x="2896121" y="0"/>
                </a:cubicBezTo>
                <a:cubicBezTo>
                  <a:pt x="3027365" y="-24309"/>
                  <a:pt x="3333223" y="68499"/>
                  <a:pt x="3567521" y="0"/>
                </a:cubicBezTo>
                <a:cubicBezTo>
                  <a:pt x="3801819" y="-68499"/>
                  <a:pt x="3880549" y="26681"/>
                  <a:pt x="4034086" y="0"/>
                </a:cubicBezTo>
                <a:cubicBezTo>
                  <a:pt x="4187623" y="-26681"/>
                  <a:pt x="4292075" y="6610"/>
                  <a:pt x="4449444" y="0"/>
                </a:cubicBezTo>
                <a:cubicBezTo>
                  <a:pt x="4606813" y="-6610"/>
                  <a:pt x="4924858" y="50377"/>
                  <a:pt x="5120843" y="0"/>
                </a:cubicBezTo>
                <a:cubicBezTo>
                  <a:pt x="5124064" y="177052"/>
                  <a:pt x="5075000" y="364208"/>
                  <a:pt x="5120843" y="609437"/>
                </a:cubicBezTo>
                <a:cubicBezTo>
                  <a:pt x="5166686" y="854666"/>
                  <a:pt x="5080602" y="1006665"/>
                  <a:pt x="5120843" y="1258744"/>
                </a:cubicBezTo>
                <a:cubicBezTo>
                  <a:pt x="5161084" y="1510823"/>
                  <a:pt x="5065440" y="1665073"/>
                  <a:pt x="5120843" y="1908051"/>
                </a:cubicBezTo>
                <a:cubicBezTo>
                  <a:pt x="5176246" y="2151029"/>
                  <a:pt x="5063729" y="2204958"/>
                  <a:pt x="5120843" y="2477618"/>
                </a:cubicBezTo>
                <a:cubicBezTo>
                  <a:pt x="5177957" y="2750278"/>
                  <a:pt x="5087919" y="2838664"/>
                  <a:pt x="5120843" y="3126925"/>
                </a:cubicBezTo>
                <a:cubicBezTo>
                  <a:pt x="5153767" y="3415186"/>
                  <a:pt x="5044073" y="3617059"/>
                  <a:pt x="5120843" y="3986972"/>
                </a:cubicBezTo>
                <a:cubicBezTo>
                  <a:pt x="4997668" y="3999707"/>
                  <a:pt x="4820200" y="3951302"/>
                  <a:pt x="4705486" y="3986972"/>
                </a:cubicBezTo>
                <a:cubicBezTo>
                  <a:pt x="4590772" y="4022642"/>
                  <a:pt x="4451539" y="3944457"/>
                  <a:pt x="4238920" y="3986972"/>
                </a:cubicBezTo>
                <a:cubicBezTo>
                  <a:pt x="4026301" y="4029487"/>
                  <a:pt x="3838266" y="3921800"/>
                  <a:pt x="3618729" y="3986972"/>
                </a:cubicBezTo>
                <a:cubicBezTo>
                  <a:pt x="3399192" y="4052144"/>
                  <a:pt x="3343191" y="3981849"/>
                  <a:pt x="3152163" y="3986972"/>
                </a:cubicBezTo>
                <a:cubicBezTo>
                  <a:pt x="2961135" y="3992095"/>
                  <a:pt x="2783312" y="3927901"/>
                  <a:pt x="2583181" y="3986972"/>
                </a:cubicBezTo>
                <a:cubicBezTo>
                  <a:pt x="2383050" y="4046043"/>
                  <a:pt x="2319553" y="3935605"/>
                  <a:pt x="2065407" y="3986972"/>
                </a:cubicBezTo>
                <a:cubicBezTo>
                  <a:pt x="1811261" y="4038339"/>
                  <a:pt x="1855188" y="3971939"/>
                  <a:pt x="1650049" y="3986972"/>
                </a:cubicBezTo>
                <a:cubicBezTo>
                  <a:pt x="1444910" y="4002005"/>
                  <a:pt x="1360394" y="3981690"/>
                  <a:pt x="1081067" y="3986972"/>
                </a:cubicBezTo>
                <a:cubicBezTo>
                  <a:pt x="801740" y="3992254"/>
                  <a:pt x="814428" y="3941863"/>
                  <a:pt x="665710" y="3986972"/>
                </a:cubicBezTo>
                <a:cubicBezTo>
                  <a:pt x="516992" y="4032081"/>
                  <a:pt x="318869" y="3967429"/>
                  <a:pt x="0" y="3986972"/>
                </a:cubicBezTo>
                <a:cubicBezTo>
                  <a:pt x="-38782" y="3876890"/>
                  <a:pt x="24531" y="3734988"/>
                  <a:pt x="0" y="3537014"/>
                </a:cubicBezTo>
                <a:cubicBezTo>
                  <a:pt x="-24531" y="3339040"/>
                  <a:pt x="3800" y="3024723"/>
                  <a:pt x="0" y="2887707"/>
                </a:cubicBezTo>
                <a:cubicBezTo>
                  <a:pt x="-3800" y="2750691"/>
                  <a:pt x="22496" y="2499081"/>
                  <a:pt x="0" y="2358009"/>
                </a:cubicBezTo>
                <a:cubicBezTo>
                  <a:pt x="-22496" y="2216937"/>
                  <a:pt x="26334" y="2017386"/>
                  <a:pt x="0" y="1868181"/>
                </a:cubicBezTo>
                <a:cubicBezTo>
                  <a:pt x="-26334" y="1718976"/>
                  <a:pt x="31746" y="1426559"/>
                  <a:pt x="0" y="1218874"/>
                </a:cubicBezTo>
                <a:cubicBezTo>
                  <a:pt x="-31746" y="1011189"/>
                  <a:pt x="40466" y="846605"/>
                  <a:pt x="0" y="729046"/>
                </a:cubicBezTo>
                <a:cubicBezTo>
                  <a:pt x="-40466" y="611487"/>
                  <a:pt x="3188" y="174080"/>
                  <a:pt x="0" y="0"/>
                </a:cubicBezTo>
                <a:close/>
              </a:path>
            </a:pathLst>
          </a:custGeom>
          <a:ln>
            <a:noFill/>
            <a:extLst>
              <a:ext uri="{C807C97D-BFC1-408E-A445-0C87EB9F89A2}">
                <ask:lineSketchStyleProps xmlns:ask="http://schemas.microsoft.com/office/drawing/2018/sketchyshapes" sd="3368494492">
                  <a:prstGeom prst="rect">
                    <a:avLst/>
                  </a:prstGeom>
                  <ask:type>
                    <ask:lineSketchScribble/>
                  </ask:type>
                </ask:lineSketchStyleProps>
              </a:ext>
            </a:extLst>
          </a:ln>
        </p:spPr>
        <p:txBody>
          <a:bodyPr vert="horz" lIns="91440" tIns="45720" rIns="91440" bIns="45720" rtlCol="0">
            <a:normAutofit fontScale="62500" lnSpcReduction="20000"/>
          </a:bodyPr>
          <a:lstStyle>
            <a:lvl1pPr marL="257175" lvl="0" indent="-257175" defTabSz="342900">
              <a:spcBef>
                <a:spcPts val="1000"/>
              </a:spcBef>
              <a:spcAft>
                <a:spcPts val="600"/>
              </a:spcAft>
              <a:buClrTx/>
              <a:buFont typeface="Arial" panose="020B0604020202020204" pitchFamily="34" charset="0"/>
              <a:buChar char="•"/>
              <a:defRPr sz="2400">
                <a:latin typeface="Calibri" panose="020F0502020204030204" pitchFamily="34" charset="0"/>
                <a:cs typeface="Calibri" panose="020F0502020204030204" pitchFamily="34" charset="0"/>
              </a:defRPr>
            </a:lvl1pPr>
            <a:lvl2pPr marL="685800" lvl="1" indent="-34290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2pPr>
            <a:lvl3pPr marL="857250" lvl="2" indent="-171450" defTabSz="342900">
              <a:spcBef>
                <a:spcPts val="1000"/>
              </a:spcBef>
              <a:spcAft>
                <a:spcPts val="600"/>
              </a:spcAft>
              <a:buClrTx/>
              <a:buSzPct val="100000"/>
              <a:buFont typeface="Arial" panose="020B0604020202020204" pitchFamily="34" charset="0"/>
              <a:buChar char="•"/>
              <a:defRPr sz="2000">
                <a:latin typeface="Calibri" panose="020F0502020204030204" pitchFamily="34" charset="0"/>
                <a:cs typeface="Calibri" panose="020F0502020204030204" pitchFamily="34" charset="0"/>
              </a:defRPr>
            </a:lvl3pPr>
            <a:lvl4pPr marL="1200150" lvl="3"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4pPr>
            <a:lvl5pPr marL="1543050" lvl="4" indent="-171450" defTabSz="342900">
              <a:spcBef>
                <a:spcPts val="1000"/>
              </a:spcBef>
              <a:spcAft>
                <a:spcPts val="600"/>
              </a:spcAft>
              <a:buClrTx/>
              <a:buFont typeface="Arial" panose="020B0604020202020204" pitchFamily="34" charset="0"/>
              <a:buChar char="•"/>
              <a:defRPr sz="2000">
                <a:latin typeface="Calibri" panose="020F0502020204030204" pitchFamily="34" charset="0"/>
                <a:cs typeface="Calibri" panose="020F0502020204030204" pitchFamily="34" charset="0"/>
              </a:defRPr>
            </a:lvl5pPr>
            <a:lvl6pPr marL="1885950" indent="-171450" defTabSz="342900">
              <a:spcBef>
                <a:spcPct val="20000"/>
              </a:spcBef>
              <a:buFont typeface="Arial"/>
              <a:buChar char="•"/>
              <a:defRPr sz="1500"/>
            </a:lvl6pPr>
            <a:lvl7pPr marL="2228850" indent="-171450" defTabSz="342900">
              <a:spcBef>
                <a:spcPct val="20000"/>
              </a:spcBef>
              <a:buFont typeface="Arial"/>
              <a:buChar char="•"/>
              <a:defRPr sz="1500"/>
            </a:lvl7pPr>
            <a:lvl8pPr marL="2571750" indent="-171450" defTabSz="342900">
              <a:spcBef>
                <a:spcPct val="20000"/>
              </a:spcBef>
              <a:buFont typeface="Arial"/>
              <a:buChar char="•"/>
              <a:defRPr sz="1500"/>
            </a:lvl8pPr>
            <a:lvl9pPr marL="2914650" indent="-171450" defTabSz="342900">
              <a:spcBef>
                <a:spcPct val="20000"/>
              </a:spcBef>
              <a:buFont typeface="Arial"/>
              <a:buChar char="•"/>
              <a:defRPr sz="1500"/>
            </a:lvl9pPr>
          </a:lstStyle>
          <a:p>
            <a:pPr lvl="0"/>
            <a:r>
              <a:rPr lang="en-US" dirty="0">
                <a:solidFill>
                  <a:schemeClr val="accent1"/>
                </a:solidFill>
              </a:rPr>
              <a:t>Lab types</a:t>
            </a:r>
          </a:p>
          <a:p>
            <a:pPr lvl="1"/>
            <a:r>
              <a:rPr lang="en-US" dirty="0">
                <a:solidFill>
                  <a:schemeClr val="accent1"/>
                </a:solidFill>
              </a:rPr>
              <a:t>Assisted labs guide you step-by-step through tasks</a:t>
            </a:r>
          </a:p>
          <a:p>
            <a:pPr lvl="1"/>
            <a:r>
              <a:rPr lang="en-US" dirty="0">
                <a:solidFill>
                  <a:schemeClr val="accent1"/>
                </a:solidFill>
              </a:rPr>
              <a:t>Applied labs set goals with limited guidance</a:t>
            </a:r>
          </a:p>
          <a:p>
            <a:pPr lvl="0"/>
            <a:r>
              <a:rPr lang="en-US" dirty="0">
                <a:solidFill>
                  <a:schemeClr val="accent1"/>
                </a:solidFill>
              </a:rPr>
              <a:t>Complete lab</a:t>
            </a:r>
          </a:p>
          <a:p>
            <a:pPr lvl="1"/>
            <a:r>
              <a:rPr lang="en-US" dirty="0">
                <a:solidFill>
                  <a:schemeClr val="accent1"/>
                </a:solidFill>
              </a:rPr>
              <a:t>Submit all items for grading and check each progress box</a:t>
            </a:r>
          </a:p>
          <a:p>
            <a:pPr lvl="1"/>
            <a:r>
              <a:rPr lang="en-US" dirty="0">
                <a:solidFill>
                  <a:schemeClr val="accent1"/>
                </a:solidFill>
              </a:rPr>
              <a:t>Select “Grade Lab” from final page</a:t>
            </a:r>
          </a:p>
          <a:p>
            <a:pPr lvl="0"/>
            <a:r>
              <a:rPr lang="en-US" dirty="0">
                <a:solidFill>
                  <a:schemeClr val="accent1"/>
                </a:solidFill>
              </a:rPr>
              <a:t>Save lab</a:t>
            </a:r>
          </a:p>
          <a:p>
            <a:pPr lvl="1"/>
            <a:r>
              <a:rPr lang="en-US" dirty="0">
                <a:solidFill>
                  <a:schemeClr val="accent1"/>
                </a:solidFill>
              </a:rPr>
              <a:t>Select the hamburger menu and select “Save”</a:t>
            </a:r>
          </a:p>
          <a:p>
            <a:pPr lvl="1"/>
            <a:r>
              <a:rPr lang="en-US" dirty="0">
                <a:solidFill>
                  <a:schemeClr val="accent1"/>
                </a:solidFill>
              </a:rPr>
              <a:t>Save up to two labs in progress for up to 7 days</a:t>
            </a:r>
            <a:endParaRPr lang="en-GB" dirty="0">
              <a:solidFill>
                <a:schemeClr val="accent1"/>
              </a:solidFill>
            </a:endParaRPr>
          </a:p>
          <a:p>
            <a:pPr lvl="0"/>
            <a:r>
              <a:rPr lang="en-US" dirty="0">
                <a:solidFill>
                  <a:schemeClr val="accent1"/>
                </a:solidFill>
              </a:rPr>
              <a:t>Cancel lab without grading</a:t>
            </a:r>
          </a:p>
          <a:p>
            <a:pPr marL="685800" marR="0" lvl="1" indent="-342900"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dirty="0">
                <a:solidFill>
                  <a:schemeClr val="accent1"/>
                </a:solidFill>
              </a:rPr>
              <a:t>Select the hamburger menu and select “End”</a:t>
            </a:r>
          </a:p>
        </p:txBody>
      </p:sp>
      <p:pic>
        <p:nvPicPr>
          <p:cNvPr id="6" name="Graphic 5">
            <a:extLst>
              <a:ext uri="{FF2B5EF4-FFF2-40B4-BE49-F238E27FC236}">
                <a16:creationId xmlns:a16="http://schemas.microsoft.com/office/drawing/2014/main" id="{57BE2E88-1023-417C-91BD-53B87CC9E2BD}"/>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21421816">
            <a:off x="3988506" y="507806"/>
            <a:ext cx="2225591" cy="575230"/>
          </a:xfrm>
          <a:prstGeom prst="rect">
            <a:avLst/>
          </a:prstGeom>
        </p:spPr>
      </p:pic>
      <p:pic>
        <p:nvPicPr>
          <p:cNvPr id="7" name="Graphic 6">
            <a:extLst>
              <a:ext uri="{FF2B5EF4-FFF2-40B4-BE49-F238E27FC236}">
                <a16:creationId xmlns:a16="http://schemas.microsoft.com/office/drawing/2014/main" id="{21E5D5AE-DD5E-43DF-9E59-06879D1C363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18457" y="2041782"/>
            <a:ext cx="1275893" cy="190500"/>
          </a:xfrm>
          <a:prstGeom prst="rect">
            <a:avLst/>
          </a:prstGeom>
        </p:spPr>
      </p:pic>
      <p:pic>
        <p:nvPicPr>
          <p:cNvPr id="8" name="Graphic 7">
            <a:extLst>
              <a:ext uri="{FF2B5EF4-FFF2-40B4-BE49-F238E27FC236}">
                <a16:creationId xmlns:a16="http://schemas.microsoft.com/office/drawing/2014/main" id="{B3C5ED1D-C224-4E8C-A1A6-7BA094A47E72}"/>
              </a:ext>
              <a:ext uri="{C183D7F6-B498-43B3-948B-1728B52AA6E4}">
                <adec:decorative xmlns:adec="http://schemas.microsoft.com/office/drawing/2017/decorative" val="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5042424" y="2922609"/>
            <a:ext cx="1694926" cy="422305"/>
          </a:xfrm>
          <a:prstGeom prst="rect">
            <a:avLst/>
          </a:prstGeom>
        </p:spPr>
      </p:pic>
    </p:spTree>
    <p:extLst>
      <p:ext uri="{BB962C8B-B14F-4D97-AF65-F5344CB8AC3E}">
        <p14:creationId xmlns:p14="http://schemas.microsoft.com/office/powerpoint/2010/main" val="1006393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12A6636-FB7B-434B-90D7-F68D09FF271C}"/>
              </a:ext>
            </a:extLst>
          </p:cNvPr>
          <p:cNvSpPr>
            <a:spLocks noGrp="1"/>
          </p:cNvSpPr>
          <p:nvPr>
            <p:ph type="subTitle" idx="1"/>
          </p:nvPr>
        </p:nvSpPr>
        <p:spPr/>
        <p:txBody>
          <a:bodyPr/>
          <a:lstStyle/>
          <a:p>
            <a:r>
              <a:rPr lang="en-US" dirty="0"/>
              <a:t>Lesson 9</a:t>
            </a:r>
          </a:p>
        </p:txBody>
      </p:sp>
      <p:sp>
        <p:nvSpPr>
          <p:cNvPr id="3" name="Text Placeholder 2">
            <a:extLst>
              <a:ext uri="{FF2B5EF4-FFF2-40B4-BE49-F238E27FC236}">
                <a16:creationId xmlns:a16="http://schemas.microsoft.com/office/drawing/2014/main" id="{ED0895CF-B89C-4362-9D1E-CA6D941DA106}"/>
              </a:ext>
            </a:extLst>
          </p:cNvPr>
          <p:cNvSpPr>
            <a:spLocks noGrp="1"/>
          </p:cNvSpPr>
          <p:nvPr>
            <p:ph type="body" sz="quarter" idx="12"/>
          </p:nvPr>
        </p:nvSpPr>
        <p:spPr/>
        <p:txBody>
          <a:bodyPr/>
          <a:lstStyle/>
          <a:p>
            <a:endParaRPr lang="en-US"/>
          </a:p>
        </p:txBody>
      </p:sp>
      <p:sp>
        <p:nvSpPr>
          <p:cNvPr id="4" name="Slide Number Placeholder 3">
            <a:extLst>
              <a:ext uri="{FF2B5EF4-FFF2-40B4-BE49-F238E27FC236}">
                <a16:creationId xmlns:a16="http://schemas.microsoft.com/office/drawing/2014/main" id="{A345E4A2-6543-4B60-AB1F-E70A19E69999}"/>
              </a:ext>
            </a:extLst>
          </p:cNvPr>
          <p:cNvSpPr>
            <a:spLocks noGrp="1"/>
          </p:cNvSpPr>
          <p:nvPr>
            <p:ph type="sldNum" sz="quarter" idx="10"/>
          </p:nvPr>
        </p:nvSpPr>
        <p:spPr/>
        <p:txBody>
          <a:bodyPr/>
          <a:lstStyle/>
          <a:p>
            <a:fld id="{B7CF8A19-3A9E-4ABC-B336-2FDDE321C72D}" type="slidenum">
              <a:rPr lang="en-US" smtClean="0"/>
              <a:pPr/>
              <a:t>39</a:t>
            </a:fld>
            <a:endParaRPr lang="en-US"/>
          </a:p>
        </p:txBody>
      </p:sp>
    </p:spTree>
    <p:extLst>
      <p:ext uri="{BB962C8B-B14F-4D97-AF65-F5344CB8AC3E}">
        <p14:creationId xmlns:p14="http://schemas.microsoft.com/office/powerpoint/2010/main" val="2875311080"/>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19" ma:contentTypeDescription="Create a new document." ma:contentTypeScope="" ma:versionID="982e8a56513d1ee2aafc01cca592f65d">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7e83a006b54384a7189437426092eef"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2.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s>
</ds:datastoreItem>
</file>

<file path=customXml/itemProps3.xml><?xml version="1.0" encoding="utf-8"?>
<ds:datastoreItem xmlns:ds="http://schemas.openxmlformats.org/officeDocument/2006/customXml" ds:itemID="{89043AF5-DE13-4601-9A37-694DD8202759}"/>
</file>

<file path=docProps/app.xml><?xml version="1.0" encoding="utf-8"?>
<Properties xmlns="http://schemas.openxmlformats.org/officeDocument/2006/extended-properties" xmlns:vt="http://schemas.openxmlformats.org/officeDocument/2006/docPropsVTypes">
  <Template>comptia_ova</Template>
  <TotalTime>3813</TotalTime>
  <Words>2889</Words>
  <Application>Microsoft Office PowerPoint</Application>
  <PresentationFormat>On-screen Show (16:9)</PresentationFormat>
  <Paragraphs>299</Paragraphs>
  <Slides>39</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Lucida Console</vt:lpstr>
      <vt:lpstr>Calibri</vt:lpstr>
      <vt:lpstr>Open Sans</vt:lpstr>
      <vt:lpstr>Arial</vt:lpstr>
      <vt:lpstr>Cutive Mono</vt:lpstr>
      <vt:lpstr>comptia_ov</vt:lpstr>
      <vt:lpstr>Exam PT0-002</vt:lpstr>
      <vt:lpstr>Exploiting the LAN and Cloud</vt:lpstr>
      <vt:lpstr>Objectives</vt:lpstr>
      <vt:lpstr>Enumerating Hosts</vt:lpstr>
      <vt:lpstr>Discovering Services</vt:lpstr>
      <vt:lpstr>Enumerating Shares</vt:lpstr>
      <vt:lpstr>Evaluating Websites</vt:lpstr>
      <vt:lpstr>Enumerating Windows Hosts</vt:lpstr>
      <vt:lpstr>Query Active Directory for Information</vt:lpstr>
      <vt:lpstr>Discovering Linux Systems</vt:lpstr>
      <vt:lpstr>Enumerating Hosts</vt:lpstr>
      <vt:lpstr>Attack LAN Protocols</vt:lpstr>
      <vt:lpstr>Moving Between VLANS</vt:lpstr>
      <vt:lpstr>Launching an On-Path Attack</vt:lpstr>
      <vt:lpstr>Spoofing Lan Protocols</vt:lpstr>
      <vt:lpstr>Poisoning LLMNR and NBT-NS</vt:lpstr>
      <vt:lpstr>Grabbing Password Hashes</vt:lpstr>
      <vt:lpstr>Chaining Exploits</vt:lpstr>
      <vt:lpstr>Attack LAN Protocols</vt:lpstr>
      <vt:lpstr>Compare Exploit Tools</vt:lpstr>
      <vt:lpstr>Testing with Metasploit Framework (MSF) </vt:lpstr>
      <vt:lpstr>RECOGNIZING OTHER TOOLS</vt:lpstr>
      <vt:lpstr>Compare Exploit Tools</vt:lpstr>
      <vt:lpstr>PowerPoint Presentation</vt:lpstr>
      <vt:lpstr>Discover Cloud Vulnerabilities</vt:lpstr>
      <vt:lpstr>Configuring Cloud Assets</vt:lpstr>
      <vt:lpstr>Running Applications in the Cloud</vt:lpstr>
      <vt:lpstr>Understanding Cloud Storage Vulnerabilities</vt:lpstr>
      <vt:lpstr>Comparing Identity and Account Types</vt:lpstr>
      <vt:lpstr>Recognizing Account Management Risks</vt:lpstr>
      <vt:lpstr>Discover Cloud Vulnerabilities</vt:lpstr>
      <vt:lpstr>Explore Cloud-Based Attacks</vt:lpstr>
      <vt:lpstr>Attacking the Cloud</vt:lpstr>
      <vt:lpstr>Harvesting Credentials</vt:lpstr>
      <vt:lpstr>Denying Service</vt:lpstr>
      <vt:lpstr>Auditing the Cloud</vt:lpstr>
      <vt:lpstr>Explore Cloud-Based Attacks</vt:lpstr>
      <vt:lpstr>PowerPoint Presentation</vt:lpstr>
      <vt:lpstr>PowerPoint Presentation</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Danielle Andries</dc:creator>
  <dc:description>Copyright © 2022 CompTIA, Inc. All Rights Reserved.  |  CompTIA.org</dc:description>
  <cp:lastModifiedBy>Danielle Andries</cp:lastModifiedBy>
  <cp:revision>12</cp:revision>
  <dcterms:created xsi:type="dcterms:W3CDTF">2021-09-23T15:15:08Z</dcterms:created>
  <dcterms:modified xsi:type="dcterms:W3CDTF">2022-10-19T21:44:19Z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ies>
</file>